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ptos Bold" panose="020B0604020202020204" charset="0"/>
      <p:regular r:id="rId8"/>
    </p:embeddedFont>
    <p:embeddedFont>
      <p:font typeface="Calibri (MS)" panose="020B0604020202020204" charset="0"/>
      <p:regular r:id="rId9"/>
    </p:embeddedFont>
    <p:embeddedFont>
      <p:font typeface="Canva Sans" panose="020B0604020202020204" charset="0"/>
      <p:regular r:id="rId10"/>
    </p:embeddedFont>
    <p:embeddedFont>
      <p:font typeface="IBM Plex Mono" panose="020F0502020204030204" pitchFamily="49" charset="0"/>
      <p:regular r:id="rId11"/>
    </p:embeddedFont>
    <p:embeddedFont>
      <p:font typeface="League Spartan" panose="020B0604020202020204" charset="0"/>
      <p:regular r:id="rId12"/>
    </p:embeddedFont>
    <p:embeddedFont>
      <p:font typeface="Roboto Condensed" panose="020F0502020204030204" pitchFamily="2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heatsheetseries.owasp.org/cheatsheets/Authentication_Cheat_Sheet.html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02400" y="-5001"/>
            <a:ext cx="2285600" cy="2285600"/>
            <a:chOff x="0" y="0"/>
            <a:chExt cx="3047467" cy="3047467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3047492" cy="3047492"/>
            </a:xfrm>
            <a:custGeom>
              <a:avLst/>
              <a:gdLst/>
              <a:ahLst/>
              <a:cxnLst/>
              <a:rect l="l" t="t" r="r" b="b"/>
              <a:pathLst>
                <a:path w="3047492" h="3047492">
                  <a:moveTo>
                    <a:pt x="0" y="0"/>
                  </a:moveTo>
                  <a:lnTo>
                    <a:pt x="3047492" y="0"/>
                  </a:lnTo>
                  <a:lnTo>
                    <a:pt x="3047492" y="3047492"/>
                  </a:lnTo>
                  <a:lnTo>
                    <a:pt x="0" y="3047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528196" y="181880"/>
            <a:ext cx="1944100" cy="1944100"/>
            <a:chOff x="0" y="0"/>
            <a:chExt cx="2592134" cy="2592134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592197" cy="2592197"/>
            </a:xfrm>
            <a:custGeom>
              <a:avLst/>
              <a:gdLst/>
              <a:ahLst/>
              <a:cxnLst/>
              <a:rect l="l" t="t" r="r" b="b"/>
              <a:pathLst>
                <a:path w="2592197" h="2592197">
                  <a:moveTo>
                    <a:pt x="0" y="0"/>
                  </a:moveTo>
                  <a:lnTo>
                    <a:pt x="2592197" y="0"/>
                  </a:lnTo>
                  <a:lnTo>
                    <a:pt x="2592197" y="2592197"/>
                  </a:lnTo>
                  <a:lnTo>
                    <a:pt x="0" y="2592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980195" y="862422"/>
            <a:ext cx="6327600" cy="1043359"/>
            <a:chOff x="0" y="0"/>
            <a:chExt cx="8436800" cy="13911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36798" cy="1391150"/>
            </a:xfrm>
            <a:custGeom>
              <a:avLst/>
              <a:gdLst/>
              <a:ahLst/>
              <a:cxnLst/>
              <a:rect l="l" t="t" r="r" b="b"/>
              <a:pathLst>
                <a:path w="8436798" h="1391150">
                  <a:moveTo>
                    <a:pt x="0" y="0"/>
                  </a:moveTo>
                  <a:lnTo>
                    <a:pt x="8436798" y="0"/>
                  </a:lnTo>
                  <a:lnTo>
                    <a:pt x="8436798" y="1391150"/>
                  </a:lnTo>
                  <a:lnTo>
                    <a:pt x="0" y="1391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8169" b="-68169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8436800" cy="1400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920"/>
                </a:lnSpc>
              </a:pPr>
              <a:r>
                <a:rPr lang="en-US" sz="6600" b="1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WEBVERSE 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477620" y="1859613"/>
            <a:ext cx="3355629" cy="397031"/>
            <a:chOff x="0" y="0"/>
            <a:chExt cx="4474172" cy="5293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74174" cy="529376"/>
            </a:xfrm>
            <a:custGeom>
              <a:avLst/>
              <a:gdLst/>
              <a:ahLst/>
              <a:cxnLst/>
              <a:rect l="l" t="t" r="r" b="b"/>
              <a:pathLst>
                <a:path w="4474174" h="529376">
                  <a:moveTo>
                    <a:pt x="0" y="0"/>
                  </a:moveTo>
                  <a:lnTo>
                    <a:pt x="4474174" y="0"/>
                  </a:lnTo>
                  <a:lnTo>
                    <a:pt x="4474174" y="529376"/>
                  </a:lnTo>
                  <a:lnTo>
                    <a:pt x="0" y="5293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683" b="-11468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4474172" cy="5293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4B4B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NATIONAL HACKATHON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996285" y="2256644"/>
            <a:ext cx="2295439" cy="304695"/>
            <a:chOff x="0" y="0"/>
            <a:chExt cx="3060586" cy="4062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60582" cy="406266"/>
            </a:xfrm>
            <a:custGeom>
              <a:avLst/>
              <a:gdLst/>
              <a:ahLst/>
              <a:cxnLst/>
              <a:rect l="l" t="t" r="r" b="b"/>
              <a:pathLst>
                <a:path w="3060582" h="406266">
                  <a:moveTo>
                    <a:pt x="0" y="0"/>
                  </a:moveTo>
                  <a:lnTo>
                    <a:pt x="3060582" y="0"/>
                  </a:lnTo>
                  <a:lnTo>
                    <a:pt x="3060582" y="406266"/>
                  </a:lnTo>
                  <a:lnTo>
                    <a:pt x="0" y="4062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790" b="-9678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3060586" cy="406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B4B4B"/>
                  </a:solidFill>
                  <a:latin typeface="Aptos"/>
                  <a:ea typeface="Aptos"/>
                  <a:cs typeface="Aptos"/>
                  <a:sym typeface="Aptos"/>
                </a:rPr>
                <a:t>Build . Break . Innovate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290111" y="2606907"/>
            <a:ext cx="3730638" cy="766362"/>
            <a:chOff x="0" y="0"/>
            <a:chExt cx="4974184" cy="10218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974182" cy="1021818"/>
            </a:xfrm>
            <a:custGeom>
              <a:avLst/>
              <a:gdLst/>
              <a:ahLst/>
              <a:cxnLst/>
              <a:rect l="l" t="t" r="r" b="b"/>
              <a:pathLst>
                <a:path w="4974182" h="1021818">
                  <a:moveTo>
                    <a:pt x="0" y="0"/>
                  </a:moveTo>
                  <a:lnTo>
                    <a:pt x="4974182" y="0"/>
                  </a:lnTo>
                  <a:lnTo>
                    <a:pt x="4974182" y="1021818"/>
                  </a:lnTo>
                  <a:lnTo>
                    <a:pt x="0" y="10218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4852" b="-4485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4974184" cy="1050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0F0F0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TITLE PAGE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67836" y="4196801"/>
            <a:ext cx="4597698" cy="489366"/>
            <a:chOff x="0" y="0"/>
            <a:chExt cx="6130265" cy="6524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30268" cy="652486"/>
            </a:xfrm>
            <a:custGeom>
              <a:avLst/>
              <a:gdLst/>
              <a:ahLst/>
              <a:cxnLst/>
              <a:rect l="l" t="t" r="r" b="b"/>
              <a:pathLst>
                <a:path w="6130268" h="652486">
                  <a:moveTo>
                    <a:pt x="0" y="0"/>
                  </a:moveTo>
                  <a:lnTo>
                    <a:pt x="6130268" y="0"/>
                  </a:lnTo>
                  <a:lnTo>
                    <a:pt x="6130268" y="652486"/>
                  </a:lnTo>
                  <a:lnTo>
                    <a:pt x="0" y="6524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3066" b="-13306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6130265" cy="652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 Statement Title: -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7836" y="4969497"/>
            <a:ext cx="1747399" cy="489366"/>
            <a:chOff x="0" y="0"/>
            <a:chExt cx="2329866" cy="6524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29868" cy="652486"/>
            </a:xfrm>
            <a:custGeom>
              <a:avLst/>
              <a:gdLst/>
              <a:ahLst/>
              <a:cxnLst/>
              <a:rect l="l" t="t" r="r" b="b"/>
              <a:pathLst>
                <a:path w="2329868" h="652486">
                  <a:moveTo>
                    <a:pt x="0" y="0"/>
                  </a:moveTo>
                  <a:lnTo>
                    <a:pt x="2329868" y="0"/>
                  </a:lnTo>
                  <a:lnTo>
                    <a:pt x="2329868" y="652486"/>
                  </a:lnTo>
                  <a:lnTo>
                    <a:pt x="0" y="6524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576" b="-1957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329866" cy="652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Team ID: -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7836" y="5600843"/>
            <a:ext cx="6467351" cy="489366"/>
            <a:chOff x="0" y="0"/>
            <a:chExt cx="8623135" cy="6524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23132" cy="652486"/>
            </a:xfrm>
            <a:custGeom>
              <a:avLst/>
              <a:gdLst/>
              <a:ahLst/>
              <a:cxnLst/>
              <a:rect l="l" t="t" r="r" b="b"/>
              <a:pathLst>
                <a:path w="8623132" h="652486">
                  <a:moveTo>
                    <a:pt x="0" y="0"/>
                  </a:moveTo>
                  <a:lnTo>
                    <a:pt x="8623132" y="0"/>
                  </a:lnTo>
                  <a:lnTo>
                    <a:pt x="8623132" y="652486"/>
                  </a:lnTo>
                  <a:lnTo>
                    <a:pt x="0" y="6524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07510" b="-20751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8623135" cy="652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Team Name (Registered on Unstop): -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664940" y="9656064"/>
            <a:ext cx="658368" cy="274320"/>
            <a:chOff x="0" y="0"/>
            <a:chExt cx="877824" cy="3657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77824" cy="365760"/>
            </a:xfrm>
            <a:custGeom>
              <a:avLst/>
              <a:gdLst/>
              <a:ahLst/>
              <a:cxnLst/>
              <a:rect l="l" t="t" r="r" b="b"/>
              <a:pathLst>
                <a:path w="877824" h="365760">
                  <a:moveTo>
                    <a:pt x="0" y="0"/>
                  </a:moveTo>
                  <a:lnTo>
                    <a:pt x="877824" y="0"/>
                  </a:lnTo>
                  <a:lnTo>
                    <a:pt x="8778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59" r="-345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877824" cy="365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4B4B4B"/>
                  </a:solidFill>
                  <a:latin typeface="Aptos"/>
                  <a:ea typeface="Aptos"/>
                  <a:cs typeface="Aptos"/>
                  <a:sym typeface="Aptos"/>
                </a:rPr>
                <a:t>01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59276" y="6229912"/>
            <a:ext cx="10934700" cy="50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Team Leader Name: -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9276" y="6960375"/>
            <a:ext cx="8961120" cy="50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Team Members: -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9276" y="8749579"/>
            <a:ext cx="8961120" cy="508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College / Institution Name: -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2815704" y="172964"/>
            <a:ext cx="1944100" cy="1483795"/>
            <a:chOff x="0" y="0"/>
            <a:chExt cx="2592134" cy="197839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92197" cy="1978406"/>
            </a:xfrm>
            <a:custGeom>
              <a:avLst/>
              <a:gdLst/>
              <a:ahLst/>
              <a:cxnLst/>
              <a:rect l="l" t="t" r="r" b="b"/>
              <a:pathLst>
                <a:path w="2592197" h="1978406">
                  <a:moveTo>
                    <a:pt x="0" y="0"/>
                  </a:moveTo>
                  <a:lnTo>
                    <a:pt x="2592197" y="0"/>
                  </a:lnTo>
                  <a:lnTo>
                    <a:pt x="2592197" y="1978406"/>
                  </a:lnTo>
                  <a:lnTo>
                    <a:pt x="0" y="1978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44618" y="71599"/>
            <a:ext cx="2522068" cy="2522068"/>
            <a:chOff x="0" y="0"/>
            <a:chExt cx="3362757" cy="336275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362706" cy="3362706"/>
            </a:xfrm>
            <a:custGeom>
              <a:avLst/>
              <a:gdLst/>
              <a:ahLst/>
              <a:cxnLst/>
              <a:rect l="l" t="t" r="r" b="b"/>
              <a:pathLst>
                <a:path w="3362706" h="3362706">
                  <a:moveTo>
                    <a:pt x="0" y="0"/>
                  </a:moveTo>
                  <a:lnTo>
                    <a:pt x="3362706" y="0"/>
                  </a:lnTo>
                  <a:lnTo>
                    <a:pt x="3362706" y="3362706"/>
                  </a:lnTo>
                  <a:lnTo>
                    <a:pt x="0" y="3362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 b="-1"/>
              </a:stretch>
            </a:blipFill>
          </p:spPr>
        </p:sp>
      </p:grpSp>
      <p:grpSp>
        <p:nvGrpSpPr>
          <p:cNvPr id="37" name="Group 37"/>
          <p:cNvGrpSpPr/>
          <p:nvPr/>
        </p:nvGrpSpPr>
        <p:grpSpPr>
          <a:xfrm>
            <a:off x="4759804" y="4157352"/>
            <a:ext cx="11486169" cy="568263"/>
            <a:chOff x="0" y="0"/>
            <a:chExt cx="15314892" cy="75768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314896" cy="757682"/>
            </a:xfrm>
            <a:custGeom>
              <a:avLst/>
              <a:gdLst/>
              <a:ahLst/>
              <a:cxnLst/>
              <a:rect l="l" t="t" r="r" b="b"/>
              <a:pathLst>
                <a:path w="15314896" h="757682">
                  <a:moveTo>
                    <a:pt x="0" y="0"/>
                  </a:moveTo>
                  <a:lnTo>
                    <a:pt x="15314896" y="0"/>
                  </a:lnTo>
                  <a:lnTo>
                    <a:pt x="15314896" y="757682"/>
                  </a:lnTo>
                  <a:lnTo>
                    <a:pt x="0" y="757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591" r="59971" b="-10070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5314892" cy="757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Adaptive Risk-Based Authentication Using Machine Learning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792986" y="4930049"/>
            <a:ext cx="1747399" cy="568263"/>
            <a:chOff x="0" y="0"/>
            <a:chExt cx="2329866" cy="7576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329868" cy="757682"/>
            </a:xfrm>
            <a:custGeom>
              <a:avLst/>
              <a:gdLst/>
              <a:ahLst/>
              <a:cxnLst/>
              <a:rect l="l" t="t" r="r" b="b"/>
              <a:pathLst>
                <a:path w="2329868" h="757682">
                  <a:moveTo>
                    <a:pt x="0" y="0"/>
                  </a:moveTo>
                  <a:lnTo>
                    <a:pt x="2329868" y="0"/>
                  </a:lnTo>
                  <a:lnTo>
                    <a:pt x="2329868" y="757682"/>
                  </a:lnTo>
                  <a:lnTo>
                    <a:pt x="0" y="757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58" b="-297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2329866" cy="757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35188" y="5600843"/>
            <a:ext cx="1614297" cy="568263"/>
            <a:chOff x="0" y="0"/>
            <a:chExt cx="2152396" cy="7576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152395" cy="757682"/>
            </a:xfrm>
            <a:custGeom>
              <a:avLst/>
              <a:gdLst/>
              <a:ahLst/>
              <a:cxnLst/>
              <a:rect l="l" t="t" r="r" b="b"/>
              <a:pathLst>
                <a:path w="2152395" h="757682">
                  <a:moveTo>
                    <a:pt x="0" y="0"/>
                  </a:moveTo>
                  <a:lnTo>
                    <a:pt x="2152395" y="0"/>
                  </a:lnTo>
                  <a:lnTo>
                    <a:pt x="2152395" y="757682"/>
                  </a:lnTo>
                  <a:lnTo>
                    <a:pt x="0" y="757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8699" r="-300629" b="-164816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2152396" cy="757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Culers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515323" y="6183603"/>
            <a:ext cx="3509648" cy="568263"/>
            <a:chOff x="0" y="0"/>
            <a:chExt cx="4679531" cy="75768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679529" cy="757682"/>
            </a:xfrm>
            <a:custGeom>
              <a:avLst/>
              <a:gdLst/>
              <a:ahLst/>
              <a:cxnLst/>
              <a:rect l="l" t="t" r="r" b="b"/>
              <a:pathLst>
                <a:path w="4679529" h="757682">
                  <a:moveTo>
                    <a:pt x="0" y="0"/>
                  </a:moveTo>
                  <a:lnTo>
                    <a:pt x="4679529" y="0"/>
                  </a:lnTo>
                  <a:lnTo>
                    <a:pt x="4679529" y="757682"/>
                  </a:lnTo>
                  <a:lnTo>
                    <a:pt x="0" y="757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8699" r="-84273" b="-16481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4679531" cy="757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Parth Popli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325538" y="6243431"/>
            <a:ext cx="14814508" cy="2142935"/>
            <a:chOff x="427411" y="-850769"/>
            <a:chExt cx="19752683" cy="2857245"/>
          </a:xfrm>
        </p:grpSpPr>
        <p:sp>
          <p:nvSpPr>
            <p:cNvPr id="50" name="Freeform 50"/>
            <p:cNvSpPr/>
            <p:nvPr/>
          </p:nvSpPr>
          <p:spPr>
            <a:xfrm>
              <a:off x="15500565" y="-850769"/>
              <a:ext cx="4679529" cy="1976879"/>
            </a:xfrm>
            <a:custGeom>
              <a:avLst/>
              <a:gdLst/>
              <a:ahLst/>
              <a:cxnLst/>
              <a:rect l="l" t="t" r="r" b="b"/>
              <a:pathLst>
                <a:path w="4679529" h="1976878">
                  <a:moveTo>
                    <a:pt x="0" y="0"/>
                  </a:moveTo>
                  <a:lnTo>
                    <a:pt x="4679529" y="0"/>
                  </a:lnTo>
                  <a:lnTo>
                    <a:pt x="4679529" y="1976878"/>
                  </a:lnTo>
                  <a:lnTo>
                    <a:pt x="0" y="19768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8490" r="-84273" b="-1496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427411" y="29592"/>
              <a:ext cx="4679531" cy="1976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Anuj Deshpande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Athrava Wani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Pranav Bilare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270147" y="8690037"/>
            <a:ext cx="7770575" cy="568263"/>
            <a:chOff x="0" y="0"/>
            <a:chExt cx="10360767" cy="75768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360763" cy="757682"/>
            </a:xfrm>
            <a:custGeom>
              <a:avLst/>
              <a:gdLst/>
              <a:ahLst/>
              <a:cxnLst/>
              <a:rect l="l" t="t" r="r" b="b"/>
              <a:pathLst>
                <a:path w="10360763" h="757682">
                  <a:moveTo>
                    <a:pt x="0" y="0"/>
                  </a:moveTo>
                  <a:lnTo>
                    <a:pt x="10360763" y="0"/>
                  </a:lnTo>
                  <a:lnTo>
                    <a:pt x="10360763" y="757682"/>
                  </a:lnTo>
                  <a:lnTo>
                    <a:pt x="0" y="7576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8699" r="16771" b="-164816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10360767" cy="757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0F0F0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Pimpri Chinnchwad College of Engineering 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5613464" y="440693"/>
            <a:ext cx="8282692" cy="45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Modern Education Society’s Wadia College Of Engineering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487" y="131226"/>
            <a:ext cx="4389120" cy="438912"/>
            <a:chOff x="0" y="0"/>
            <a:chExt cx="5852160" cy="585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8521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WEBVERSE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28295" y="131226"/>
            <a:ext cx="4389120" cy="438912"/>
            <a:chOff x="0" y="0"/>
            <a:chExt cx="585216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585216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>
                  <a:solidFill>
                    <a:srgbClr val="6969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IDEA SUBMISSION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838958" y="725176"/>
            <a:ext cx="16587977" cy="19108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802100" y="9848088"/>
            <a:ext cx="617220" cy="438912"/>
            <a:chOff x="0" y="0"/>
            <a:chExt cx="822960" cy="5852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2960" cy="585216"/>
            </a:xfrm>
            <a:custGeom>
              <a:avLst/>
              <a:gdLst/>
              <a:ahLst/>
              <a:cxnLst/>
              <a:rect l="l" t="t" r="r" b="b"/>
              <a:pathLst>
                <a:path w="822960" h="585216">
                  <a:moveTo>
                    <a:pt x="0" y="0"/>
                  </a:moveTo>
                  <a:lnTo>
                    <a:pt x="822960" y="0"/>
                  </a:lnTo>
                  <a:lnTo>
                    <a:pt x="8229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r="-7023" b="37499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8229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96969"/>
                  </a:solidFill>
                  <a:latin typeface="Aptos"/>
                  <a:ea typeface="Aptos"/>
                  <a:cs typeface="Aptos"/>
                  <a:sym typeface="Aptos"/>
                </a:rPr>
                <a:t>02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41" y="854892"/>
            <a:ext cx="7714769" cy="710329"/>
            <a:chOff x="0" y="0"/>
            <a:chExt cx="10286359" cy="94710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86358" cy="947105"/>
            </a:xfrm>
            <a:custGeom>
              <a:avLst/>
              <a:gdLst/>
              <a:ahLst/>
              <a:cxnLst/>
              <a:rect l="l" t="t" r="r" b="b"/>
              <a:pathLst>
                <a:path w="10286358" h="947105">
                  <a:moveTo>
                    <a:pt x="0" y="0"/>
                  </a:moveTo>
                  <a:lnTo>
                    <a:pt x="10286358" y="0"/>
                  </a:lnTo>
                  <a:lnTo>
                    <a:pt x="10286358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7648" r="-56454" b="-2745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0286359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00"/>
                </a:lnSpc>
              </a:pPr>
              <a:r>
                <a:rPr lang="en-US" sz="37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 &amp; Propesed Solution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9056" y="1671066"/>
            <a:ext cx="16760205" cy="8177022"/>
            <a:chOff x="0" y="0"/>
            <a:chExt cx="22346940" cy="1090269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346941" cy="10902696"/>
            </a:xfrm>
            <a:custGeom>
              <a:avLst/>
              <a:gdLst/>
              <a:ahLst/>
              <a:cxnLst/>
              <a:rect l="l" t="t" r="r" b="b"/>
              <a:pathLst>
                <a:path w="22346941" h="10902696">
                  <a:moveTo>
                    <a:pt x="0" y="0"/>
                  </a:moveTo>
                  <a:lnTo>
                    <a:pt x="22346941" y="0"/>
                  </a:lnTo>
                  <a:lnTo>
                    <a:pt x="22346941" y="10902696"/>
                  </a:lnTo>
                  <a:lnTo>
                    <a:pt x="0" y="10902696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311010" y="2313695"/>
            <a:ext cx="7590508" cy="7379550"/>
            <a:chOff x="0" y="0"/>
            <a:chExt cx="1999146" cy="194358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99146" cy="1943585"/>
            </a:xfrm>
            <a:custGeom>
              <a:avLst/>
              <a:gdLst/>
              <a:ahLst/>
              <a:cxnLst/>
              <a:rect l="l" t="t" r="r" b="b"/>
              <a:pathLst>
                <a:path w="1999146" h="1943585">
                  <a:moveTo>
                    <a:pt x="35698" y="0"/>
                  </a:moveTo>
                  <a:lnTo>
                    <a:pt x="1963448" y="0"/>
                  </a:lnTo>
                  <a:cubicBezTo>
                    <a:pt x="1972916" y="0"/>
                    <a:pt x="1981996" y="3761"/>
                    <a:pt x="1988690" y="10456"/>
                  </a:cubicBezTo>
                  <a:cubicBezTo>
                    <a:pt x="1995385" y="17150"/>
                    <a:pt x="1999146" y="26230"/>
                    <a:pt x="1999146" y="35698"/>
                  </a:cubicBezTo>
                  <a:lnTo>
                    <a:pt x="1999146" y="1907887"/>
                  </a:lnTo>
                  <a:cubicBezTo>
                    <a:pt x="1999146" y="1917355"/>
                    <a:pt x="1995385" y="1926435"/>
                    <a:pt x="1988690" y="1933129"/>
                  </a:cubicBezTo>
                  <a:cubicBezTo>
                    <a:pt x="1981996" y="1939824"/>
                    <a:pt x="1972916" y="1943585"/>
                    <a:pt x="1963448" y="1943585"/>
                  </a:cubicBezTo>
                  <a:lnTo>
                    <a:pt x="35698" y="1943585"/>
                  </a:lnTo>
                  <a:cubicBezTo>
                    <a:pt x="26230" y="1943585"/>
                    <a:pt x="17150" y="1939824"/>
                    <a:pt x="10456" y="1933129"/>
                  </a:cubicBezTo>
                  <a:cubicBezTo>
                    <a:pt x="3761" y="1926435"/>
                    <a:pt x="0" y="1917355"/>
                    <a:pt x="0" y="1907887"/>
                  </a:cubicBezTo>
                  <a:lnTo>
                    <a:pt x="0" y="35698"/>
                  </a:lnTo>
                  <a:cubicBezTo>
                    <a:pt x="0" y="26230"/>
                    <a:pt x="3761" y="17150"/>
                    <a:pt x="10456" y="10456"/>
                  </a:cubicBezTo>
                  <a:cubicBezTo>
                    <a:pt x="17150" y="3761"/>
                    <a:pt x="26230" y="0"/>
                    <a:pt x="3569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999146" cy="1943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0202" y="2313695"/>
            <a:ext cx="7590508" cy="7379550"/>
            <a:chOff x="0" y="0"/>
            <a:chExt cx="1999146" cy="19435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99146" cy="1943585"/>
            </a:xfrm>
            <a:custGeom>
              <a:avLst/>
              <a:gdLst/>
              <a:ahLst/>
              <a:cxnLst/>
              <a:rect l="l" t="t" r="r" b="b"/>
              <a:pathLst>
                <a:path w="1999146" h="1943585">
                  <a:moveTo>
                    <a:pt x="35698" y="0"/>
                  </a:moveTo>
                  <a:lnTo>
                    <a:pt x="1963448" y="0"/>
                  </a:lnTo>
                  <a:cubicBezTo>
                    <a:pt x="1972916" y="0"/>
                    <a:pt x="1981996" y="3761"/>
                    <a:pt x="1988690" y="10456"/>
                  </a:cubicBezTo>
                  <a:cubicBezTo>
                    <a:pt x="1995385" y="17150"/>
                    <a:pt x="1999146" y="26230"/>
                    <a:pt x="1999146" y="35698"/>
                  </a:cubicBezTo>
                  <a:lnTo>
                    <a:pt x="1999146" y="1907887"/>
                  </a:lnTo>
                  <a:cubicBezTo>
                    <a:pt x="1999146" y="1917355"/>
                    <a:pt x="1995385" y="1926435"/>
                    <a:pt x="1988690" y="1933129"/>
                  </a:cubicBezTo>
                  <a:cubicBezTo>
                    <a:pt x="1981996" y="1939824"/>
                    <a:pt x="1972916" y="1943585"/>
                    <a:pt x="1963448" y="1943585"/>
                  </a:cubicBezTo>
                  <a:lnTo>
                    <a:pt x="35698" y="1943585"/>
                  </a:lnTo>
                  <a:cubicBezTo>
                    <a:pt x="26230" y="1943585"/>
                    <a:pt x="17150" y="1939824"/>
                    <a:pt x="10456" y="1933129"/>
                  </a:cubicBezTo>
                  <a:cubicBezTo>
                    <a:pt x="3761" y="1926435"/>
                    <a:pt x="0" y="1917355"/>
                    <a:pt x="0" y="1907887"/>
                  </a:cubicBezTo>
                  <a:lnTo>
                    <a:pt x="0" y="35698"/>
                  </a:lnTo>
                  <a:cubicBezTo>
                    <a:pt x="0" y="26230"/>
                    <a:pt x="3761" y="17150"/>
                    <a:pt x="10456" y="10456"/>
                  </a:cubicBezTo>
                  <a:cubicBezTo>
                    <a:pt x="17150" y="3761"/>
                    <a:pt x="26230" y="0"/>
                    <a:pt x="35698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999146" cy="1943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79729" y="2390440"/>
            <a:ext cx="7453072" cy="110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Traditional authentication systems often apply the same security level to every login attempt, regardless of the risk involved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23346" y="3800051"/>
            <a:ext cx="7320654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Fixed authentication: The same authentication method is applied to every login.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23346" y="4864221"/>
            <a:ext cx="7320654" cy="11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risk awareness: Factors such as IP address, location, device, login time and user behavior are often not considered.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23346" y="6313290"/>
            <a:ext cx="7320654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Unnecessary friction: Low-risk users may face additional authentication steps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823346" y="7440929"/>
            <a:ext cx="7009455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Insufficient protection: High-risk or suspicious logins may not receive stronger verification.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23346" y="8568569"/>
            <a:ext cx="7320654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Need for intelligent security: Each login attempt should be evaluated based on its risk level.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88920" y="2390440"/>
            <a:ext cx="7453072" cy="1108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 Adaptive Risk-Based Authentication System that evaluates each login attempt and dynamically adjusts security based on its risk level.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29947" y="3748527"/>
            <a:ext cx="7012044" cy="1153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Contextual Analysis: Analyze factors such as IP address, country/location, login time, device and login history.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29947" y="5197596"/>
            <a:ext cx="7012044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Weighted Risk Evaluation: Assign different weights to features based on their security importance.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029947" y="6256140"/>
            <a:ext cx="7012044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ML-Based Risk Engine: Use machine learning to identify normal and suspicious login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29947" y="7314685"/>
            <a:ext cx="7012044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Dynamic Authentication: Adjust authentication requirements according to the calculated risk.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29947" y="8373229"/>
            <a:ext cx="7012044" cy="76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 Risk → Password | Medium → OTP | High → MFA / Block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977955" y="1650945"/>
            <a:ext cx="22566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066263" y="1650945"/>
            <a:ext cx="22566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Solution</a:t>
            </a:r>
          </a:p>
        </p:txBody>
      </p:sp>
      <p:sp>
        <p:nvSpPr>
          <p:cNvPr id="37" name="Freeform 37"/>
          <p:cNvSpPr/>
          <p:nvPr/>
        </p:nvSpPr>
        <p:spPr>
          <a:xfrm>
            <a:off x="0" y="0"/>
            <a:ext cx="18224063" cy="10330766"/>
          </a:xfrm>
          <a:custGeom>
            <a:avLst/>
            <a:gdLst/>
            <a:ahLst/>
            <a:cxnLst/>
            <a:rect l="l" t="t" r="r" b="b"/>
            <a:pathLst>
              <a:path w="18224063" h="10330766">
                <a:moveTo>
                  <a:pt x="0" y="0"/>
                </a:moveTo>
                <a:lnTo>
                  <a:pt x="18224063" y="0"/>
                </a:lnTo>
                <a:lnTo>
                  <a:pt x="18224063" y="10330766"/>
                </a:lnTo>
                <a:lnTo>
                  <a:pt x="0" y="10330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2307" y="140513"/>
            <a:ext cx="4389120" cy="438912"/>
            <a:chOff x="0" y="0"/>
            <a:chExt cx="5852160" cy="585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8521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WEBVERSE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32115" y="140513"/>
            <a:ext cx="4389120" cy="438912"/>
            <a:chOff x="0" y="0"/>
            <a:chExt cx="585216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585216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>
                  <a:solidFill>
                    <a:srgbClr val="6969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IDEA SUBMISSION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842777" y="734463"/>
            <a:ext cx="16587977" cy="19108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802100" y="9848088"/>
            <a:ext cx="617220" cy="262399"/>
            <a:chOff x="0" y="0"/>
            <a:chExt cx="822960" cy="3498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2960" cy="349866"/>
            </a:xfrm>
            <a:custGeom>
              <a:avLst/>
              <a:gdLst/>
              <a:ahLst/>
              <a:cxnLst/>
              <a:rect l="l" t="t" r="r" b="b"/>
              <a:pathLst>
                <a:path w="822960" h="349866">
                  <a:moveTo>
                    <a:pt x="0" y="0"/>
                  </a:moveTo>
                  <a:lnTo>
                    <a:pt x="822960" y="0"/>
                  </a:lnTo>
                  <a:lnTo>
                    <a:pt x="822960" y="349866"/>
                  </a:lnTo>
                  <a:lnTo>
                    <a:pt x="0" y="3498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r="-7023" b="-454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822960" cy="349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96969"/>
                  </a:solidFill>
                  <a:latin typeface="Aptos"/>
                  <a:ea typeface="Aptos"/>
                  <a:cs typeface="Aptos"/>
                  <a:sym typeface="Aptos"/>
                </a:rPr>
                <a:t>03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2307" y="753571"/>
            <a:ext cx="12070080" cy="617220"/>
            <a:chOff x="0" y="0"/>
            <a:chExt cx="16093440" cy="822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093439" cy="822960"/>
            </a:xfrm>
            <a:custGeom>
              <a:avLst/>
              <a:gdLst/>
              <a:ahLst/>
              <a:cxnLst/>
              <a:rect l="l" t="t" r="r" b="b"/>
              <a:pathLst>
                <a:path w="16093439" h="822960">
                  <a:moveTo>
                    <a:pt x="0" y="0"/>
                  </a:moveTo>
                  <a:lnTo>
                    <a:pt x="16093439" y="0"/>
                  </a:lnTo>
                  <a:lnTo>
                    <a:pt x="16093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1040" b="-3310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0934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Technical Approach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42772" y="6306693"/>
            <a:ext cx="8176260" cy="3541395"/>
            <a:chOff x="0" y="0"/>
            <a:chExt cx="10901680" cy="47218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01680" cy="4721860"/>
            </a:xfrm>
            <a:custGeom>
              <a:avLst/>
              <a:gdLst/>
              <a:ahLst/>
              <a:cxnLst/>
              <a:rect l="l" t="t" r="r" b="b"/>
              <a:pathLst>
                <a:path w="10901680" h="4721860">
                  <a:moveTo>
                    <a:pt x="0" y="0"/>
                  </a:moveTo>
                  <a:lnTo>
                    <a:pt x="10901680" y="0"/>
                  </a:lnTo>
                  <a:lnTo>
                    <a:pt x="10901680" y="4721860"/>
                  </a:lnTo>
                  <a:lnTo>
                    <a:pt x="0" y="4721860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sp>
        <p:nvSpPr>
          <p:cNvPr id="17" name="Freeform 17"/>
          <p:cNvSpPr/>
          <p:nvPr/>
        </p:nvSpPr>
        <p:spPr>
          <a:xfrm>
            <a:off x="736355" y="1588642"/>
            <a:ext cx="2438353" cy="3554858"/>
          </a:xfrm>
          <a:custGeom>
            <a:avLst/>
            <a:gdLst/>
            <a:ahLst/>
            <a:cxnLst/>
            <a:rect l="l" t="t" r="r" b="b"/>
            <a:pathLst>
              <a:path w="2438353" h="3554858">
                <a:moveTo>
                  <a:pt x="0" y="0"/>
                </a:moveTo>
                <a:lnTo>
                  <a:pt x="2438353" y="0"/>
                </a:lnTo>
                <a:lnTo>
                  <a:pt x="2438353" y="3554858"/>
                </a:lnTo>
                <a:lnTo>
                  <a:pt x="0" y="3554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1" t="-2148" r="-901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023421" y="1588642"/>
            <a:ext cx="2574996" cy="3554858"/>
          </a:xfrm>
          <a:custGeom>
            <a:avLst/>
            <a:gdLst/>
            <a:ahLst/>
            <a:cxnLst/>
            <a:rect l="l" t="t" r="r" b="b"/>
            <a:pathLst>
              <a:path w="2574996" h="3554858">
                <a:moveTo>
                  <a:pt x="0" y="0"/>
                </a:moveTo>
                <a:lnTo>
                  <a:pt x="2574996" y="0"/>
                </a:lnTo>
                <a:lnTo>
                  <a:pt x="2574996" y="3554858"/>
                </a:lnTo>
                <a:lnTo>
                  <a:pt x="0" y="3554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05" t="-1593" r="-3205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647773" y="1455029"/>
            <a:ext cx="2326821" cy="3774196"/>
          </a:xfrm>
          <a:custGeom>
            <a:avLst/>
            <a:gdLst/>
            <a:ahLst/>
            <a:cxnLst/>
            <a:rect l="l" t="t" r="r" b="b"/>
            <a:pathLst>
              <a:path w="2326821" h="3774196">
                <a:moveTo>
                  <a:pt x="0" y="0"/>
                </a:moveTo>
                <a:lnTo>
                  <a:pt x="2326822" y="0"/>
                </a:lnTo>
                <a:lnTo>
                  <a:pt x="2326822" y="3774196"/>
                </a:lnTo>
                <a:lnTo>
                  <a:pt x="0" y="3774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79" t="-553" r="-4855"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11022345" y="1542241"/>
            <a:ext cx="2666502" cy="3601259"/>
          </a:xfrm>
          <a:custGeom>
            <a:avLst/>
            <a:gdLst/>
            <a:ahLst/>
            <a:cxnLst/>
            <a:rect l="l" t="t" r="r" b="b"/>
            <a:pathLst>
              <a:path w="2666502" h="3601259">
                <a:moveTo>
                  <a:pt x="0" y="0"/>
                </a:moveTo>
                <a:lnTo>
                  <a:pt x="2666502" y="0"/>
                </a:lnTo>
                <a:lnTo>
                  <a:pt x="2666502" y="3601259"/>
                </a:lnTo>
                <a:lnTo>
                  <a:pt x="0" y="3601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02" t="-2854" r="-2902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536572" y="1588642"/>
            <a:ext cx="2637003" cy="3554858"/>
          </a:xfrm>
          <a:custGeom>
            <a:avLst/>
            <a:gdLst/>
            <a:ahLst/>
            <a:cxnLst/>
            <a:rect l="l" t="t" r="r" b="b"/>
            <a:pathLst>
              <a:path w="2637003" h="3554858">
                <a:moveTo>
                  <a:pt x="0" y="0"/>
                </a:moveTo>
                <a:lnTo>
                  <a:pt x="2637003" y="0"/>
                </a:lnTo>
                <a:lnTo>
                  <a:pt x="2637003" y="3554858"/>
                </a:lnTo>
                <a:lnTo>
                  <a:pt x="0" y="35548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23" t="-2401" r="-3523"/>
            </a:stretch>
          </a:blipFill>
          <a:ln cap="sq">
            <a:noFill/>
            <a:prstDash val="solid"/>
            <a:miter/>
          </a:ln>
        </p:spPr>
      </p:sp>
      <p:sp>
        <p:nvSpPr>
          <p:cNvPr id="22" name="Freeform 22"/>
          <p:cNvSpPr/>
          <p:nvPr/>
        </p:nvSpPr>
        <p:spPr>
          <a:xfrm>
            <a:off x="5408798" y="5362575"/>
            <a:ext cx="7220468" cy="806625"/>
          </a:xfrm>
          <a:custGeom>
            <a:avLst/>
            <a:gdLst/>
            <a:ahLst/>
            <a:cxnLst/>
            <a:rect l="l" t="t" r="r" b="b"/>
            <a:pathLst>
              <a:path w="7220468" h="806625">
                <a:moveTo>
                  <a:pt x="0" y="0"/>
                </a:moveTo>
                <a:lnTo>
                  <a:pt x="7220468" y="0"/>
                </a:lnTo>
                <a:lnTo>
                  <a:pt x="7220468" y="806625"/>
                </a:lnTo>
                <a:lnTo>
                  <a:pt x="0" y="806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301847" y="3449292"/>
            <a:ext cx="594436" cy="166442"/>
          </a:xfrm>
          <a:custGeom>
            <a:avLst/>
            <a:gdLst/>
            <a:ahLst/>
            <a:cxnLst/>
            <a:rect l="l" t="t" r="r" b="b"/>
            <a:pathLst>
              <a:path w="594436" h="166442">
                <a:moveTo>
                  <a:pt x="0" y="0"/>
                </a:moveTo>
                <a:lnTo>
                  <a:pt x="594436" y="0"/>
                </a:lnTo>
                <a:lnTo>
                  <a:pt x="594436" y="166442"/>
                </a:lnTo>
                <a:lnTo>
                  <a:pt x="0" y="166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825877" y="3449292"/>
            <a:ext cx="594436" cy="166442"/>
          </a:xfrm>
          <a:custGeom>
            <a:avLst/>
            <a:gdLst/>
            <a:ahLst/>
            <a:cxnLst/>
            <a:rect l="l" t="t" r="r" b="b"/>
            <a:pathLst>
              <a:path w="594436" h="166442">
                <a:moveTo>
                  <a:pt x="0" y="0"/>
                </a:moveTo>
                <a:lnTo>
                  <a:pt x="594436" y="0"/>
                </a:lnTo>
                <a:lnTo>
                  <a:pt x="594436" y="166442"/>
                </a:lnTo>
                <a:lnTo>
                  <a:pt x="0" y="166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203195" y="3449292"/>
            <a:ext cx="594436" cy="166442"/>
          </a:xfrm>
          <a:custGeom>
            <a:avLst/>
            <a:gdLst/>
            <a:ahLst/>
            <a:cxnLst/>
            <a:rect l="l" t="t" r="r" b="b"/>
            <a:pathLst>
              <a:path w="594436" h="166442">
                <a:moveTo>
                  <a:pt x="0" y="0"/>
                </a:moveTo>
                <a:lnTo>
                  <a:pt x="594435" y="0"/>
                </a:lnTo>
                <a:lnTo>
                  <a:pt x="594435" y="166442"/>
                </a:lnTo>
                <a:lnTo>
                  <a:pt x="0" y="166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815492" y="2781231"/>
            <a:ext cx="594436" cy="166442"/>
          </a:xfrm>
          <a:custGeom>
            <a:avLst/>
            <a:gdLst/>
            <a:ahLst/>
            <a:cxnLst/>
            <a:rect l="l" t="t" r="r" b="b"/>
            <a:pathLst>
              <a:path w="594436" h="166442">
                <a:moveTo>
                  <a:pt x="0" y="0"/>
                </a:moveTo>
                <a:lnTo>
                  <a:pt x="594435" y="0"/>
                </a:lnTo>
                <a:lnTo>
                  <a:pt x="594435" y="166442"/>
                </a:lnTo>
                <a:lnTo>
                  <a:pt x="0" y="166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815492" y="3615734"/>
            <a:ext cx="594436" cy="166442"/>
          </a:xfrm>
          <a:custGeom>
            <a:avLst/>
            <a:gdLst/>
            <a:ahLst/>
            <a:cxnLst/>
            <a:rect l="l" t="t" r="r" b="b"/>
            <a:pathLst>
              <a:path w="594436" h="166442">
                <a:moveTo>
                  <a:pt x="0" y="0"/>
                </a:moveTo>
                <a:lnTo>
                  <a:pt x="594435" y="0"/>
                </a:lnTo>
                <a:lnTo>
                  <a:pt x="594435" y="166442"/>
                </a:lnTo>
                <a:lnTo>
                  <a:pt x="0" y="166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815492" y="4543962"/>
            <a:ext cx="594436" cy="166442"/>
          </a:xfrm>
          <a:custGeom>
            <a:avLst/>
            <a:gdLst/>
            <a:ahLst/>
            <a:cxnLst/>
            <a:rect l="l" t="t" r="r" b="b"/>
            <a:pathLst>
              <a:path w="594436" h="166442">
                <a:moveTo>
                  <a:pt x="0" y="0"/>
                </a:moveTo>
                <a:lnTo>
                  <a:pt x="594435" y="0"/>
                </a:lnTo>
                <a:lnTo>
                  <a:pt x="594435" y="166442"/>
                </a:lnTo>
                <a:lnTo>
                  <a:pt x="0" y="166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10800000">
            <a:off x="12758090" y="5682666"/>
            <a:ext cx="594436" cy="166442"/>
          </a:xfrm>
          <a:custGeom>
            <a:avLst/>
            <a:gdLst/>
            <a:ahLst/>
            <a:cxnLst/>
            <a:rect l="l" t="t" r="r" b="b"/>
            <a:pathLst>
              <a:path w="594436" h="166442">
                <a:moveTo>
                  <a:pt x="0" y="0"/>
                </a:moveTo>
                <a:lnTo>
                  <a:pt x="594436" y="0"/>
                </a:lnTo>
                <a:lnTo>
                  <a:pt x="594436" y="166442"/>
                </a:lnTo>
                <a:lnTo>
                  <a:pt x="0" y="166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400000">
            <a:off x="1476544" y="5357497"/>
            <a:ext cx="594436" cy="166442"/>
          </a:xfrm>
          <a:custGeom>
            <a:avLst/>
            <a:gdLst/>
            <a:ahLst/>
            <a:cxnLst/>
            <a:rect l="l" t="t" r="r" b="b"/>
            <a:pathLst>
              <a:path w="594436" h="166442">
                <a:moveTo>
                  <a:pt x="0" y="0"/>
                </a:moveTo>
                <a:lnTo>
                  <a:pt x="594435" y="0"/>
                </a:lnTo>
                <a:lnTo>
                  <a:pt x="594435" y="166442"/>
                </a:lnTo>
                <a:lnTo>
                  <a:pt x="0" y="166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352526" y="5654395"/>
            <a:ext cx="1400947" cy="222984"/>
          </a:xfrm>
          <a:custGeom>
            <a:avLst/>
            <a:gdLst/>
            <a:ahLst/>
            <a:cxnLst/>
            <a:rect l="l" t="t" r="r" b="b"/>
            <a:pathLst>
              <a:path w="1400947" h="222984">
                <a:moveTo>
                  <a:pt x="0" y="0"/>
                </a:moveTo>
                <a:lnTo>
                  <a:pt x="1400947" y="0"/>
                </a:lnTo>
                <a:lnTo>
                  <a:pt x="1400947" y="222984"/>
                </a:lnTo>
                <a:lnTo>
                  <a:pt x="0" y="222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312167" y="5654395"/>
            <a:ext cx="1400947" cy="222984"/>
          </a:xfrm>
          <a:custGeom>
            <a:avLst/>
            <a:gdLst/>
            <a:ahLst/>
            <a:cxnLst/>
            <a:rect l="l" t="t" r="r" b="b"/>
            <a:pathLst>
              <a:path w="1400947" h="222984">
                <a:moveTo>
                  <a:pt x="0" y="0"/>
                </a:moveTo>
                <a:lnTo>
                  <a:pt x="1400946" y="0"/>
                </a:lnTo>
                <a:lnTo>
                  <a:pt x="1400946" y="222984"/>
                </a:lnTo>
                <a:lnTo>
                  <a:pt x="0" y="222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-5481891">
            <a:off x="15026455" y="5734938"/>
            <a:ext cx="1400947" cy="222984"/>
          </a:xfrm>
          <a:custGeom>
            <a:avLst/>
            <a:gdLst/>
            <a:ahLst/>
            <a:cxnLst/>
            <a:rect l="l" t="t" r="r" b="b"/>
            <a:pathLst>
              <a:path w="1400947" h="222984">
                <a:moveTo>
                  <a:pt x="0" y="0"/>
                </a:moveTo>
                <a:lnTo>
                  <a:pt x="1400947" y="0"/>
                </a:lnTo>
                <a:lnTo>
                  <a:pt x="1400947" y="222984"/>
                </a:lnTo>
                <a:lnTo>
                  <a:pt x="0" y="222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4023421" y="5607805"/>
            <a:ext cx="1400947" cy="222984"/>
          </a:xfrm>
          <a:custGeom>
            <a:avLst/>
            <a:gdLst/>
            <a:ahLst/>
            <a:cxnLst/>
            <a:rect l="l" t="t" r="r" b="b"/>
            <a:pathLst>
              <a:path w="1400947" h="222984">
                <a:moveTo>
                  <a:pt x="0" y="0"/>
                </a:moveTo>
                <a:lnTo>
                  <a:pt x="1400947" y="0"/>
                </a:lnTo>
                <a:lnTo>
                  <a:pt x="1400947" y="222984"/>
                </a:lnTo>
                <a:lnTo>
                  <a:pt x="0" y="222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2898592" y="5607805"/>
            <a:ext cx="1400947" cy="222984"/>
          </a:xfrm>
          <a:custGeom>
            <a:avLst/>
            <a:gdLst/>
            <a:ahLst/>
            <a:cxnLst/>
            <a:rect l="l" t="t" r="r" b="b"/>
            <a:pathLst>
              <a:path w="1400947" h="222984">
                <a:moveTo>
                  <a:pt x="0" y="0"/>
                </a:moveTo>
                <a:lnTo>
                  <a:pt x="1400946" y="0"/>
                </a:lnTo>
                <a:lnTo>
                  <a:pt x="1400946" y="222984"/>
                </a:lnTo>
                <a:lnTo>
                  <a:pt x="0" y="222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773762" y="5607805"/>
            <a:ext cx="1400947" cy="222984"/>
          </a:xfrm>
          <a:custGeom>
            <a:avLst/>
            <a:gdLst/>
            <a:ahLst/>
            <a:cxnLst/>
            <a:rect l="l" t="t" r="r" b="b"/>
            <a:pathLst>
              <a:path w="1400947" h="222984">
                <a:moveTo>
                  <a:pt x="0" y="0"/>
                </a:moveTo>
                <a:lnTo>
                  <a:pt x="1400946" y="0"/>
                </a:lnTo>
                <a:lnTo>
                  <a:pt x="1400946" y="222984"/>
                </a:lnTo>
                <a:lnTo>
                  <a:pt x="0" y="222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9244975" y="6306693"/>
            <a:ext cx="8176260" cy="3541395"/>
            <a:chOff x="0" y="0"/>
            <a:chExt cx="10901680" cy="47218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01680" cy="4721873"/>
            </a:xfrm>
            <a:custGeom>
              <a:avLst/>
              <a:gdLst/>
              <a:ahLst/>
              <a:cxnLst/>
              <a:rect l="l" t="t" r="r" b="b"/>
              <a:pathLst>
                <a:path w="10901680" h="4721873">
                  <a:moveTo>
                    <a:pt x="0" y="0"/>
                  </a:moveTo>
                  <a:lnTo>
                    <a:pt x="10901680" y="0"/>
                  </a:lnTo>
                  <a:lnTo>
                    <a:pt x="10901680" y="4721873"/>
                  </a:lnTo>
                  <a:lnTo>
                    <a:pt x="0" y="4721873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5325920" y="5830789"/>
            <a:ext cx="802017" cy="475904"/>
            <a:chOff x="0" y="0"/>
            <a:chExt cx="211231" cy="12534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11231" cy="125341"/>
            </a:xfrm>
            <a:custGeom>
              <a:avLst/>
              <a:gdLst/>
              <a:ahLst/>
              <a:cxnLst/>
              <a:rect l="l" t="t" r="r" b="b"/>
              <a:pathLst>
                <a:path w="211231" h="125341">
                  <a:moveTo>
                    <a:pt x="0" y="0"/>
                  </a:moveTo>
                  <a:lnTo>
                    <a:pt x="211231" y="0"/>
                  </a:lnTo>
                  <a:lnTo>
                    <a:pt x="211231" y="125341"/>
                  </a:lnTo>
                  <a:lnTo>
                    <a:pt x="0" y="12534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211231" cy="1253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9"/>
                </a:lnSpc>
              </a:pPr>
              <a:endParaRPr/>
            </a:p>
          </p:txBody>
        </p:sp>
      </p:grpSp>
      <p:sp>
        <p:nvSpPr>
          <p:cNvPr id="42" name="Freeform 42"/>
          <p:cNvSpPr/>
          <p:nvPr/>
        </p:nvSpPr>
        <p:spPr>
          <a:xfrm>
            <a:off x="953656" y="7422937"/>
            <a:ext cx="150087" cy="204200"/>
          </a:xfrm>
          <a:custGeom>
            <a:avLst/>
            <a:gdLst/>
            <a:ahLst/>
            <a:cxnLst/>
            <a:rect l="l" t="t" r="r" b="b"/>
            <a:pathLst>
              <a:path w="150087" h="204200">
                <a:moveTo>
                  <a:pt x="0" y="0"/>
                </a:moveTo>
                <a:lnTo>
                  <a:pt x="150088" y="0"/>
                </a:lnTo>
                <a:lnTo>
                  <a:pt x="150088" y="204200"/>
                </a:lnTo>
                <a:lnTo>
                  <a:pt x="0" y="204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53656" y="7779537"/>
            <a:ext cx="150087" cy="204200"/>
          </a:xfrm>
          <a:custGeom>
            <a:avLst/>
            <a:gdLst/>
            <a:ahLst/>
            <a:cxnLst/>
            <a:rect l="l" t="t" r="r" b="b"/>
            <a:pathLst>
              <a:path w="150087" h="204200">
                <a:moveTo>
                  <a:pt x="0" y="0"/>
                </a:moveTo>
                <a:lnTo>
                  <a:pt x="150088" y="0"/>
                </a:lnTo>
                <a:lnTo>
                  <a:pt x="150088" y="204200"/>
                </a:lnTo>
                <a:lnTo>
                  <a:pt x="0" y="204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953656" y="8155187"/>
            <a:ext cx="150087" cy="204200"/>
          </a:xfrm>
          <a:custGeom>
            <a:avLst/>
            <a:gdLst/>
            <a:ahLst/>
            <a:cxnLst/>
            <a:rect l="l" t="t" r="r" b="b"/>
            <a:pathLst>
              <a:path w="150087" h="204200">
                <a:moveTo>
                  <a:pt x="0" y="0"/>
                </a:moveTo>
                <a:lnTo>
                  <a:pt x="150088" y="0"/>
                </a:lnTo>
                <a:lnTo>
                  <a:pt x="150088" y="204201"/>
                </a:lnTo>
                <a:lnTo>
                  <a:pt x="0" y="2042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953656" y="8530838"/>
            <a:ext cx="150087" cy="204200"/>
          </a:xfrm>
          <a:custGeom>
            <a:avLst/>
            <a:gdLst/>
            <a:ahLst/>
            <a:cxnLst/>
            <a:rect l="l" t="t" r="r" b="b"/>
            <a:pathLst>
              <a:path w="150087" h="204200">
                <a:moveTo>
                  <a:pt x="0" y="0"/>
                </a:moveTo>
                <a:lnTo>
                  <a:pt x="150088" y="0"/>
                </a:lnTo>
                <a:lnTo>
                  <a:pt x="150088" y="204200"/>
                </a:lnTo>
                <a:lnTo>
                  <a:pt x="0" y="204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953656" y="8906488"/>
            <a:ext cx="150087" cy="204200"/>
          </a:xfrm>
          <a:custGeom>
            <a:avLst/>
            <a:gdLst/>
            <a:ahLst/>
            <a:cxnLst/>
            <a:rect l="l" t="t" r="r" b="b"/>
            <a:pathLst>
              <a:path w="150087" h="204200">
                <a:moveTo>
                  <a:pt x="0" y="0"/>
                </a:moveTo>
                <a:lnTo>
                  <a:pt x="150088" y="0"/>
                </a:lnTo>
                <a:lnTo>
                  <a:pt x="150088" y="204201"/>
                </a:lnTo>
                <a:lnTo>
                  <a:pt x="0" y="2042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953656" y="9282139"/>
            <a:ext cx="150087" cy="204200"/>
          </a:xfrm>
          <a:custGeom>
            <a:avLst/>
            <a:gdLst/>
            <a:ahLst/>
            <a:cxnLst/>
            <a:rect l="l" t="t" r="r" b="b"/>
            <a:pathLst>
              <a:path w="150087" h="204200">
                <a:moveTo>
                  <a:pt x="0" y="0"/>
                </a:moveTo>
                <a:lnTo>
                  <a:pt x="150088" y="0"/>
                </a:lnTo>
                <a:lnTo>
                  <a:pt x="150088" y="204200"/>
                </a:lnTo>
                <a:lnTo>
                  <a:pt x="0" y="204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8" name="AutoShape 48"/>
          <p:cNvSpPr/>
          <p:nvPr/>
        </p:nvSpPr>
        <p:spPr>
          <a:xfrm flipV="1">
            <a:off x="953656" y="7078950"/>
            <a:ext cx="7629522" cy="0"/>
          </a:xfrm>
          <a:prstGeom prst="line">
            <a:avLst/>
          </a:prstGeom>
          <a:ln w="38100" cap="flat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AutoShape 49"/>
          <p:cNvSpPr/>
          <p:nvPr/>
        </p:nvSpPr>
        <p:spPr>
          <a:xfrm flipV="1">
            <a:off x="9481188" y="7098000"/>
            <a:ext cx="7629522" cy="0"/>
          </a:xfrm>
          <a:prstGeom prst="line">
            <a:avLst/>
          </a:prstGeom>
          <a:ln w="38100" cap="flat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0" name="TextBox 50"/>
          <p:cNvSpPr txBox="1"/>
          <p:nvPr/>
        </p:nvSpPr>
        <p:spPr>
          <a:xfrm>
            <a:off x="1028700" y="6501735"/>
            <a:ext cx="310896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TECHNOLOGIES USED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655047" y="6501735"/>
            <a:ext cx="4754880" cy="40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IMPLEMENTATION METHODOLOGY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78626" y="7261378"/>
            <a:ext cx="7304552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Python — ML model &amp; risk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78626" y="7646856"/>
            <a:ext cx="7304552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Scikit-Learn, Pandas &amp; Numpy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78626" y="8032335"/>
            <a:ext cx="7304552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Flask  – Backend &amp; API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78626" y="8417814"/>
            <a:ext cx="7304552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HTML, CSS &amp; JavaScript – Frontend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278626" y="8803293"/>
            <a:ext cx="7304552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MySQL – User and login data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78626" y="9177547"/>
            <a:ext cx="7304552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 Forest Model &amp; OTP/Authentication API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270110" y="7102311"/>
            <a:ext cx="7304552" cy="365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6" lvl="1" indent="-226698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Collect login and contextual features.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70110" y="7515878"/>
            <a:ext cx="7840600" cy="259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6" lvl="1" indent="-226698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Preprocess and normalize the input data.</a:t>
            </a:r>
          </a:p>
          <a:p>
            <a:pPr marL="453396" lvl="1" indent="-226698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Assign weights based on feature importance.</a:t>
            </a:r>
          </a:p>
          <a:p>
            <a:pPr marL="453396" lvl="1" indent="-226698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ML model calculates the risk score for each login.</a:t>
            </a:r>
          </a:p>
          <a:p>
            <a:pPr marL="453396" lvl="1" indent="-226698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Classify the attempt into Low, Medium or High risk.</a:t>
            </a:r>
          </a:p>
          <a:p>
            <a:pPr marL="453396" lvl="1" indent="-226698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Trigger the appropriate authentication method dynamically.</a:t>
            </a:r>
          </a:p>
          <a:p>
            <a:pPr marL="453396" lvl="1" indent="-226698" algn="l">
              <a:lnSpc>
                <a:spcPts val="2940"/>
              </a:lnSpc>
              <a:buAutoNum type="arabicPeriod"/>
            </a:pPr>
            <a:r>
              <a:rPr lang="en-US" sz="21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Log the result for continuous monitoring and model improvement.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0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70571" y="0"/>
            <a:ext cx="18217429" cy="10327005"/>
          </a:xfrm>
          <a:custGeom>
            <a:avLst/>
            <a:gdLst/>
            <a:ahLst/>
            <a:cxnLst/>
            <a:rect l="l" t="t" r="r" b="b"/>
            <a:pathLst>
              <a:path w="18217429" h="10327005">
                <a:moveTo>
                  <a:pt x="0" y="0"/>
                </a:moveTo>
                <a:lnTo>
                  <a:pt x="18217429" y="0"/>
                </a:lnTo>
                <a:lnTo>
                  <a:pt x="18217429" y="10327005"/>
                </a:lnTo>
                <a:lnTo>
                  <a:pt x="0" y="1032700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0392" y="384048"/>
            <a:ext cx="4389120" cy="438912"/>
            <a:chOff x="0" y="0"/>
            <a:chExt cx="5852160" cy="585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8521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WEBVERSE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30200" y="384048"/>
            <a:ext cx="4389120" cy="438912"/>
            <a:chOff x="0" y="0"/>
            <a:chExt cx="585216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585216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>
                  <a:solidFill>
                    <a:srgbClr val="6969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IDEA SUBMISSION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3960">
            <a:off x="840857" y="982790"/>
            <a:ext cx="16587988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802100" y="9710928"/>
            <a:ext cx="617220" cy="274320"/>
            <a:chOff x="0" y="0"/>
            <a:chExt cx="822960" cy="365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2960" cy="365760"/>
            </a:xfrm>
            <a:custGeom>
              <a:avLst/>
              <a:gdLst/>
              <a:ahLst/>
              <a:cxnLst/>
              <a:rect l="l" t="t" r="r" b="b"/>
              <a:pathLst>
                <a:path w="822960" h="365760">
                  <a:moveTo>
                    <a:pt x="0" y="0"/>
                  </a:moveTo>
                  <a:lnTo>
                    <a:pt x="822960" y="0"/>
                  </a:lnTo>
                  <a:lnTo>
                    <a:pt x="822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r="-702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822960" cy="365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96969"/>
                  </a:solidFill>
                  <a:latin typeface="Aptos"/>
                  <a:ea typeface="Aptos"/>
                  <a:cs typeface="Aptos"/>
                  <a:sym typeface="Aptos"/>
                </a:rPr>
                <a:t>04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0392" y="1306144"/>
            <a:ext cx="12070080" cy="617220"/>
            <a:chOff x="0" y="0"/>
            <a:chExt cx="16093440" cy="822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093439" cy="822960"/>
            </a:xfrm>
            <a:custGeom>
              <a:avLst/>
              <a:gdLst/>
              <a:ahLst/>
              <a:cxnLst/>
              <a:rect l="l" t="t" r="r" b="b"/>
              <a:pathLst>
                <a:path w="16093439" h="822960">
                  <a:moveTo>
                    <a:pt x="0" y="0"/>
                  </a:moveTo>
                  <a:lnTo>
                    <a:pt x="16093439" y="0"/>
                  </a:lnTo>
                  <a:lnTo>
                    <a:pt x="16093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1040" b="-3310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0934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Feasibility &amp; Viability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42772" y="2900172"/>
            <a:ext cx="5268468" cy="5844540"/>
            <a:chOff x="0" y="0"/>
            <a:chExt cx="7024624" cy="7792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24624" cy="7792720"/>
            </a:xfrm>
            <a:custGeom>
              <a:avLst/>
              <a:gdLst/>
              <a:ahLst/>
              <a:cxnLst/>
              <a:rect l="l" t="t" r="r" b="b"/>
              <a:pathLst>
                <a:path w="7024624" h="7792720">
                  <a:moveTo>
                    <a:pt x="0" y="0"/>
                  </a:moveTo>
                  <a:lnTo>
                    <a:pt x="7024624" y="0"/>
                  </a:lnTo>
                  <a:lnTo>
                    <a:pt x="7024624" y="7792720"/>
                  </a:lnTo>
                  <a:lnTo>
                    <a:pt x="0" y="7792720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24712" y="3127248"/>
            <a:ext cx="4704588" cy="342900"/>
            <a:chOff x="0" y="0"/>
            <a:chExt cx="6272784" cy="457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72784" cy="457200"/>
            </a:xfrm>
            <a:custGeom>
              <a:avLst/>
              <a:gdLst/>
              <a:ahLst/>
              <a:cxnLst/>
              <a:rect l="l" t="t" r="r" b="b"/>
              <a:pathLst>
                <a:path w="6272784" h="457200">
                  <a:moveTo>
                    <a:pt x="0" y="0"/>
                  </a:moveTo>
                  <a:lnTo>
                    <a:pt x="6272784" y="0"/>
                  </a:lnTo>
                  <a:lnTo>
                    <a:pt x="627278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7334" b="-21733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272784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FEASIBILITY ANALYSIS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11100">
            <a:off x="1117082" y="3575114"/>
            <a:ext cx="4719857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6507480" y="2900172"/>
            <a:ext cx="5268468" cy="5844540"/>
            <a:chOff x="0" y="0"/>
            <a:chExt cx="7024624" cy="7792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24624" cy="7792720"/>
            </a:xfrm>
            <a:custGeom>
              <a:avLst/>
              <a:gdLst/>
              <a:ahLst/>
              <a:cxnLst/>
              <a:rect l="l" t="t" r="r" b="b"/>
              <a:pathLst>
                <a:path w="7024624" h="7792720">
                  <a:moveTo>
                    <a:pt x="0" y="0"/>
                  </a:moveTo>
                  <a:lnTo>
                    <a:pt x="7024624" y="0"/>
                  </a:lnTo>
                  <a:lnTo>
                    <a:pt x="7024624" y="7792720"/>
                  </a:lnTo>
                  <a:lnTo>
                    <a:pt x="0" y="7792720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6789420" y="3127248"/>
            <a:ext cx="4704588" cy="342900"/>
            <a:chOff x="0" y="0"/>
            <a:chExt cx="6272784" cy="45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272784" cy="457200"/>
            </a:xfrm>
            <a:custGeom>
              <a:avLst/>
              <a:gdLst/>
              <a:ahLst/>
              <a:cxnLst/>
              <a:rect l="l" t="t" r="r" b="b"/>
              <a:pathLst>
                <a:path w="6272784" h="457200">
                  <a:moveTo>
                    <a:pt x="0" y="0"/>
                  </a:moveTo>
                  <a:lnTo>
                    <a:pt x="6272784" y="0"/>
                  </a:lnTo>
                  <a:lnTo>
                    <a:pt x="627278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7334" b="-217334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6272784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CHALLENGES &amp; RISKS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rot="11100">
            <a:off x="6781790" y="3575114"/>
            <a:ext cx="4719857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7" name="Group 27"/>
          <p:cNvGrpSpPr/>
          <p:nvPr/>
        </p:nvGrpSpPr>
        <p:grpSpPr>
          <a:xfrm>
            <a:off x="12172188" y="2900172"/>
            <a:ext cx="5268468" cy="5844540"/>
            <a:chOff x="0" y="0"/>
            <a:chExt cx="7024624" cy="77927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024624" cy="7792720"/>
            </a:xfrm>
            <a:custGeom>
              <a:avLst/>
              <a:gdLst/>
              <a:ahLst/>
              <a:cxnLst/>
              <a:rect l="l" t="t" r="r" b="b"/>
              <a:pathLst>
                <a:path w="7024624" h="7792720">
                  <a:moveTo>
                    <a:pt x="0" y="0"/>
                  </a:moveTo>
                  <a:lnTo>
                    <a:pt x="7024624" y="0"/>
                  </a:lnTo>
                  <a:lnTo>
                    <a:pt x="7024624" y="7792720"/>
                  </a:lnTo>
                  <a:lnTo>
                    <a:pt x="0" y="7792720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2454128" y="3127248"/>
            <a:ext cx="4704588" cy="342900"/>
            <a:chOff x="0" y="0"/>
            <a:chExt cx="6272784" cy="457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272784" cy="457200"/>
            </a:xfrm>
            <a:custGeom>
              <a:avLst/>
              <a:gdLst/>
              <a:ahLst/>
              <a:cxnLst/>
              <a:rect l="l" t="t" r="r" b="b"/>
              <a:pathLst>
                <a:path w="6272784" h="457200">
                  <a:moveTo>
                    <a:pt x="0" y="0"/>
                  </a:moveTo>
                  <a:lnTo>
                    <a:pt x="6272784" y="0"/>
                  </a:lnTo>
                  <a:lnTo>
                    <a:pt x="627278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7334" b="-217334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6272784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MITIGATION STRATEGIES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 rot="11100">
            <a:off x="12446498" y="3575114"/>
            <a:ext cx="4719857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TextBox 33"/>
          <p:cNvSpPr txBox="1"/>
          <p:nvPr/>
        </p:nvSpPr>
        <p:spPr>
          <a:xfrm>
            <a:off x="6781803" y="3785235"/>
            <a:ext cx="4643443" cy="486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False Positives: Genuine users may be flagged as risky.</a:t>
            </a:r>
          </a:p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Data Privacy: Sensitive login and location data must be protected.</a:t>
            </a:r>
          </a:p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Model Accuracy: ML performance may decrease with changing user behavior.</a:t>
            </a:r>
          </a:p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System Dependency: OTP/API failures can affect authentication.</a:t>
            </a:r>
          </a:p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Security Threats: Attackers may attempt to manipulate input signals.</a:t>
            </a:r>
          </a:p>
          <a:p>
            <a:pPr algn="l">
              <a:lnSpc>
                <a:spcPts val="2550"/>
              </a:lnSpc>
            </a:pPr>
            <a:endParaRPr lang="en-US" sz="212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550"/>
              </a:lnSpc>
            </a:pPr>
            <a:endParaRPr lang="en-US" sz="212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550"/>
              </a:lnSpc>
            </a:pPr>
            <a:endParaRPr lang="en-US" sz="212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442698" y="3785235"/>
            <a:ext cx="4668012" cy="486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Reduce False Positives: Use adaptive risk thresholds and multiple features.</a:t>
            </a:r>
          </a:p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Protect Data: Encrypt sensitive data and use secure APIs.</a:t>
            </a:r>
          </a:p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Improve Accuracy: Continuously retrain the model with new login data.</a:t>
            </a:r>
          </a:p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Ensure Availability: Use backup authentication/OTP services.</a:t>
            </a:r>
          </a:p>
          <a:p>
            <a:pPr marL="458942" lvl="1" indent="-229471" algn="l">
              <a:lnSpc>
                <a:spcPts val="2550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Prevent Manipulation: Validate and monitor incoming login signals.</a:t>
            </a:r>
          </a:p>
          <a:p>
            <a:pPr algn="l">
              <a:lnSpc>
                <a:spcPts val="2550"/>
              </a:lnSpc>
            </a:pPr>
            <a:endParaRPr lang="en-US" sz="212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550"/>
              </a:lnSpc>
            </a:pPr>
            <a:endParaRPr lang="en-US" sz="212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550"/>
              </a:lnSpc>
            </a:pPr>
            <a:endParaRPr lang="en-US" sz="2125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28700" y="3677983"/>
            <a:ext cx="4299792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6"/>
              </a:lnSpc>
            </a:pPr>
            <a:endParaRPr/>
          </a:p>
          <a:p>
            <a:pPr marL="456384" lvl="1" indent="-228192" algn="l">
              <a:lnSpc>
                <a:spcPts val="2536"/>
              </a:lnSpc>
              <a:buFont typeface="Arial"/>
              <a:buChar char="•"/>
            </a:pPr>
            <a:r>
              <a:rPr lang="en-US" sz="211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Technical: Python, Flask, ML &amp; MySQL are readily available.</a:t>
            </a:r>
          </a:p>
          <a:p>
            <a:pPr marL="456384" lvl="1" indent="-228192" algn="l">
              <a:lnSpc>
                <a:spcPts val="2536"/>
              </a:lnSpc>
              <a:buFont typeface="Arial"/>
              <a:buChar char="•"/>
            </a:pPr>
            <a:r>
              <a:rPr lang="en-US" sz="211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Data: Login/contextual data can be collected or simulated.</a:t>
            </a:r>
          </a:p>
          <a:p>
            <a:pPr marL="456384" lvl="1" indent="-228192" algn="l">
              <a:lnSpc>
                <a:spcPts val="2536"/>
              </a:lnSpc>
              <a:buFont typeface="Arial"/>
              <a:buChar char="•"/>
            </a:pPr>
            <a:r>
              <a:rPr lang="en-US" sz="211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Deployment: Can be deployed on cloud infrastructure. </a:t>
            </a:r>
          </a:p>
          <a:p>
            <a:pPr marL="456384" lvl="1" indent="-228192" algn="l">
              <a:lnSpc>
                <a:spcPts val="2536"/>
              </a:lnSpc>
              <a:buFont typeface="Arial"/>
              <a:buChar char="•"/>
            </a:pPr>
            <a:r>
              <a:rPr lang="en-US" sz="211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Scalability: Architecture can support increasing users. </a:t>
            </a:r>
          </a:p>
          <a:p>
            <a:pPr marL="456384" lvl="1" indent="-228192" algn="l">
              <a:lnSpc>
                <a:spcPts val="2536"/>
              </a:lnSpc>
              <a:buFont typeface="Arial"/>
              <a:buChar char="•"/>
            </a:pPr>
            <a:r>
              <a:rPr lang="en-US" sz="211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Cost: Low-cost prototype using open-source technologies.</a:t>
            </a:r>
          </a:p>
          <a:p>
            <a:pPr algn="l">
              <a:lnSpc>
                <a:spcPts val="2536"/>
              </a:lnSpc>
              <a:spcBef>
                <a:spcPct val="0"/>
              </a:spcBef>
            </a:pPr>
            <a:endParaRPr lang="en-US" sz="2113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0" y="-40005"/>
            <a:ext cx="18288000" cy="10367010"/>
          </a:xfrm>
          <a:custGeom>
            <a:avLst/>
            <a:gdLst/>
            <a:ahLst/>
            <a:cxnLst/>
            <a:rect l="l" t="t" r="r" b="b"/>
            <a:pathLst>
              <a:path w="18288000" h="10367010">
                <a:moveTo>
                  <a:pt x="0" y="0"/>
                </a:moveTo>
                <a:lnTo>
                  <a:pt x="18288000" y="0"/>
                </a:lnTo>
                <a:lnTo>
                  <a:pt x="18288000" y="10367010"/>
                </a:lnTo>
                <a:lnTo>
                  <a:pt x="0" y="10367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0392" y="384048"/>
            <a:ext cx="4389120" cy="438912"/>
            <a:chOff x="0" y="0"/>
            <a:chExt cx="5852160" cy="585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8521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WEBVERSE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30200" y="384048"/>
            <a:ext cx="4389120" cy="438912"/>
            <a:chOff x="0" y="0"/>
            <a:chExt cx="585216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585216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>
                  <a:solidFill>
                    <a:srgbClr val="6969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IDEA SUBMISSION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3960">
            <a:off x="840857" y="982790"/>
            <a:ext cx="16587988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802100" y="9710928"/>
            <a:ext cx="617220" cy="274320"/>
            <a:chOff x="0" y="0"/>
            <a:chExt cx="822960" cy="365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2960" cy="365760"/>
            </a:xfrm>
            <a:custGeom>
              <a:avLst/>
              <a:gdLst/>
              <a:ahLst/>
              <a:cxnLst/>
              <a:rect l="l" t="t" r="r" b="b"/>
              <a:pathLst>
                <a:path w="822960" h="365760">
                  <a:moveTo>
                    <a:pt x="0" y="0"/>
                  </a:moveTo>
                  <a:lnTo>
                    <a:pt x="822960" y="0"/>
                  </a:lnTo>
                  <a:lnTo>
                    <a:pt x="822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r="-702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822960" cy="365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96969"/>
                  </a:solidFill>
                  <a:latin typeface="Aptos"/>
                  <a:ea typeface="Aptos"/>
                  <a:cs typeface="Aptos"/>
                  <a:sym typeface="Aptos"/>
                </a:rPr>
                <a:t>05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0392" y="1642410"/>
            <a:ext cx="12070080" cy="617220"/>
            <a:chOff x="0" y="0"/>
            <a:chExt cx="16093440" cy="822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093439" cy="822960"/>
            </a:xfrm>
            <a:custGeom>
              <a:avLst/>
              <a:gdLst/>
              <a:ahLst/>
              <a:cxnLst/>
              <a:rect l="l" t="t" r="r" b="b"/>
              <a:pathLst>
                <a:path w="16093439" h="822960">
                  <a:moveTo>
                    <a:pt x="0" y="0"/>
                  </a:moveTo>
                  <a:lnTo>
                    <a:pt x="16093439" y="0"/>
                  </a:lnTo>
                  <a:lnTo>
                    <a:pt x="16093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1040" b="-3310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0934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 &amp; Benefits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40863" y="2723388"/>
            <a:ext cx="10165080" cy="2346960"/>
            <a:chOff x="0" y="0"/>
            <a:chExt cx="13553440" cy="31292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53439" cy="3129280"/>
            </a:xfrm>
            <a:custGeom>
              <a:avLst/>
              <a:gdLst/>
              <a:ahLst/>
              <a:cxnLst/>
              <a:rect l="l" t="t" r="r" b="b"/>
              <a:pathLst>
                <a:path w="13553439" h="3129280">
                  <a:moveTo>
                    <a:pt x="0" y="0"/>
                  </a:moveTo>
                  <a:lnTo>
                    <a:pt x="13553439" y="0"/>
                  </a:lnTo>
                  <a:lnTo>
                    <a:pt x="13553439" y="3129280"/>
                  </a:lnTo>
                  <a:lnTo>
                    <a:pt x="0" y="3129280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028700" y="2784348"/>
            <a:ext cx="9601200" cy="342900"/>
            <a:chOff x="0" y="0"/>
            <a:chExt cx="12801600" cy="457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01600" cy="457200"/>
            </a:xfrm>
            <a:custGeom>
              <a:avLst/>
              <a:gdLst/>
              <a:ahLst/>
              <a:cxnLst/>
              <a:rect l="l" t="t" r="r" b="b"/>
              <a:pathLst>
                <a:path w="12801600" h="457200">
                  <a:moveTo>
                    <a:pt x="0" y="0"/>
                  </a:moveTo>
                  <a:lnTo>
                    <a:pt x="12801600" y="0"/>
                  </a:lnTo>
                  <a:lnTo>
                    <a:pt x="12801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95581" b="-49558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280160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AUDIENCE &amp; IMPACT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850400" y="3278662"/>
            <a:ext cx="9616437" cy="15273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11376660" y="2900172"/>
            <a:ext cx="6063996" cy="5844540"/>
            <a:chOff x="0" y="0"/>
            <a:chExt cx="8085328" cy="7792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85328" cy="7792720"/>
            </a:xfrm>
            <a:custGeom>
              <a:avLst/>
              <a:gdLst/>
              <a:ahLst/>
              <a:cxnLst/>
              <a:rect l="l" t="t" r="r" b="b"/>
              <a:pathLst>
                <a:path w="8085328" h="7792720">
                  <a:moveTo>
                    <a:pt x="0" y="0"/>
                  </a:moveTo>
                  <a:lnTo>
                    <a:pt x="8085328" y="0"/>
                  </a:lnTo>
                  <a:lnTo>
                    <a:pt x="8085328" y="7792720"/>
                  </a:lnTo>
                  <a:lnTo>
                    <a:pt x="0" y="7792720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658600" y="3127248"/>
            <a:ext cx="5500116" cy="342900"/>
            <a:chOff x="0" y="0"/>
            <a:chExt cx="7333488" cy="45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333488" cy="457200"/>
            </a:xfrm>
            <a:custGeom>
              <a:avLst/>
              <a:gdLst/>
              <a:ahLst/>
              <a:cxnLst/>
              <a:rect l="l" t="t" r="r" b="b"/>
              <a:pathLst>
                <a:path w="7333488" h="457200">
                  <a:moveTo>
                    <a:pt x="0" y="0"/>
                  </a:moveTo>
                  <a:lnTo>
                    <a:pt x="7333488" y="0"/>
                  </a:lnTo>
                  <a:lnTo>
                    <a:pt x="733348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2540" b="-26254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333488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 CATEGORIES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rot="9480">
            <a:off x="11650970" y="3575114"/>
            <a:ext cx="5515375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Freeform 27"/>
          <p:cNvSpPr/>
          <p:nvPr/>
        </p:nvSpPr>
        <p:spPr>
          <a:xfrm>
            <a:off x="840863" y="5456682"/>
            <a:ext cx="8623469" cy="4490466"/>
          </a:xfrm>
          <a:custGeom>
            <a:avLst/>
            <a:gdLst/>
            <a:ahLst/>
            <a:cxnLst/>
            <a:rect l="l" t="t" r="r" b="b"/>
            <a:pathLst>
              <a:path w="8623469" h="4490466">
                <a:moveTo>
                  <a:pt x="0" y="0"/>
                </a:moveTo>
                <a:lnTo>
                  <a:pt x="8623469" y="0"/>
                </a:lnTo>
                <a:lnTo>
                  <a:pt x="8623469" y="4490466"/>
                </a:lnTo>
                <a:lnTo>
                  <a:pt x="0" y="4490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17" b="-2417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1376660" y="9078643"/>
            <a:ext cx="14950440" cy="480060"/>
            <a:chOff x="0" y="0"/>
            <a:chExt cx="19933920" cy="6400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9933920" cy="640080"/>
            </a:xfrm>
            <a:custGeom>
              <a:avLst/>
              <a:gdLst/>
              <a:ahLst/>
              <a:cxnLst/>
              <a:rect l="l" t="t" r="r" b="b"/>
              <a:pathLst>
                <a:path w="19933920" h="640080">
                  <a:moveTo>
                    <a:pt x="0" y="0"/>
                  </a:moveTo>
                  <a:lnTo>
                    <a:pt x="19933920" y="0"/>
                  </a:lnTo>
                  <a:lnTo>
                    <a:pt x="19933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56819" b="-556819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9933920" cy="6400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 b="1">
                  <a:solidFill>
                    <a:srgbClr val="6969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“More security when risk is high, less friction when risk is low.”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28700" y="3470148"/>
            <a:ext cx="902941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181" lvl="1" indent="-162591" algn="l">
              <a:lnSpc>
                <a:spcPts val="1807"/>
              </a:lnSpc>
              <a:buFont typeface="Arial"/>
              <a:buChar char="•"/>
            </a:pPr>
            <a:r>
              <a:rPr lang="en-US" sz="1506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Banks &amp; FinTech → Secure accounts &amp; prevent fraud</a:t>
            </a:r>
          </a:p>
          <a:p>
            <a:pPr marL="325181" lvl="1" indent="-162591" algn="l">
              <a:lnSpc>
                <a:spcPts val="1807"/>
              </a:lnSpc>
              <a:buFont typeface="Arial"/>
              <a:buChar char="•"/>
            </a:pPr>
            <a:r>
              <a:rPr lang="en-US" sz="1506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Enterprises → Protect employees and business data</a:t>
            </a:r>
          </a:p>
          <a:p>
            <a:pPr marL="325181" lvl="1" indent="-162591" algn="l">
              <a:lnSpc>
                <a:spcPts val="1807"/>
              </a:lnSpc>
              <a:buFont typeface="Arial"/>
              <a:buChar char="•"/>
            </a:pPr>
            <a:r>
              <a:rPr lang="en-US" sz="1506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Educational Institutions → Secure student/faculty accounts</a:t>
            </a:r>
          </a:p>
          <a:p>
            <a:pPr marL="325181" lvl="1" indent="-162591" algn="l">
              <a:lnSpc>
                <a:spcPts val="1807"/>
              </a:lnSpc>
              <a:buFont typeface="Arial"/>
              <a:buChar char="•"/>
            </a:pPr>
            <a:r>
              <a:rPr lang="en-US" sz="1506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Healthcare → Protect sensitive patient information</a:t>
            </a:r>
          </a:p>
          <a:p>
            <a:pPr marL="325181" lvl="1" indent="-162591" algn="l">
              <a:lnSpc>
                <a:spcPts val="1807"/>
              </a:lnSpc>
              <a:buFont typeface="Arial"/>
              <a:buChar char="•"/>
            </a:pPr>
            <a:r>
              <a:rPr lang="en-US" sz="1506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Government → Secure citizen &amp; e-governance systems</a:t>
            </a:r>
          </a:p>
          <a:p>
            <a:pPr marL="325181" lvl="1" indent="-162591" algn="l">
              <a:lnSpc>
                <a:spcPts val="1807"/>
              </a:lnSpc>
              <a:buFont typeface="Arial"/>
              <a:buChar char="•"/>
            </a:pPr>
            <a:r>
              <a:rPr lang="en-US" sz="1506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General Users → Safer everyday logins</a:t>
            </a:r>
          </a:p>
          <a:p>
            <a:pPr algn="l">
              <a:lnSpc>
                <a:spcPts val="1807"/>
              </a:lnSpc>
            </a:pPr>
            <a:endParaRPr lang="en-US" sz="1506">
              <a:solidFill>
                <a:srgbClr val="696969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519112" y="3687493"/>
            <a:ext cx="5463540" cy="523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Enhanced Security</a:t>
            </a:r>
          </a:p>
          <a:p>
            <a:pPr marL="340042" lvl="1" indent="-170021" algn="l">
              <a:lnSpc>
                <a:spcPts val="1889"/>
              </a:lnSpc>
              <a:buFont typeface="Arial"/>
              <a:buChar char="•"/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 Identifies risky login attempts and applies stronger                     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        authentication.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Improved User Experience</a:t>
            </a:r>
          </a:p>
          <a:p>
            <a:pPr marL="340042" lvl="1" indent="-170021" algn="l">
              <a:lnSpc>
                <a:spcPts val="1889"/>
              </a:lnSpc>
              <a:buFont typeface="Arial"/>
              <a:buChar char="•"/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Low-risk users can log in normally without unnecessary security steps.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Reduced Account Takeover</a:t>
            </a:r>
          </a:p>
          <a:p>
            <a:pPr marL="340042" lvl="1" indent="-170021" algn="l">
              <a:lnSpc>
                <a:spcPts val="1889"/>
              </a:lnSpc>
              <a:buFont typeface="Arial"/>
              <a:buChar char="•"/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Detects unusual devices, locations, IPs, login times and user behavior.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Risk-Based Security</a:t>
            </a:r>
          </a:p>
          <a:p>
            <a:pPr marL="340042" lvl="1" indent="-170021" algn="l">
              <a:lnSpc>
                <a:spcPts val="1889"/>
              </a:lnSpc>
              <a:buFont typeface="Arial"/>
              <a:buChar char="•"/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Security level automatically changes according to the calculated risk.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Faster Threat Response</a:t>
            </a:r>
          </a:p>
          <a:p>
            <a:pPr marL="340042" lvl="1" indent="-170021" algn="l">
              <a:lnSpc>
                <a:spcPts val="1889"/>
              </a:lnSpc>
              <a:buFont typeface="Arial"/>
              <a:buChar char="•"/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Suspicious attempts can trigger MFA, additional verification or access blocking immediately.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Reduced Operational Cost</a:t>
            </a:r>
          </a:p>
          <a:p>
            <a:pPr marL="340042" lvl="1" indent="-170021" algn="l">
              <a:lnSpc>
                <a:spcPts val="1889"/>
              </a:lnSpc>
              <a:buFont typeface="Arial"/>
              <a:buChar char="•"/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Avoids applying expensive or inconvenient security checks to every user.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Scalable &amp; Adaptable</a:t>
            </a:r>
          </a:p>
          <a:p>
            <a:pPr marL="340042" lvl="1" indent="-170021" algn="l">
              <a:lnSpc>
                <a:spcPts val="1889"/>
              </a:lnSpc>
              <a:buFont typeface="Arial"/>
              <a:buChar char="•"/>
            </a:pPr>
            <a:r>
              <a:rPr lang="en-US" sz="1575">
                <a:solidFill>
                  <a:srgbClr val="696969"/>
                </a:solidFill>
                <a:latin typeface="Aptos"/>
                <a:ea typeface="Aptos"/>
                <a:cs typeface="Aptos"/>
                <a:sym typeface="Aptos"/>
              </a:rPr>
              <a:t> Can be used across banking, healthcare, education, enterprises and government systems.</a:t>
            </a:r>
          </a:p>
          <a:p>
            <a:pPr algn="l">
              <a:lnSpc>
                <a:spcPts val="1889"/>
              </a:lnSpc>
            </a:pPr>
            <a:endParaRPr lang="en-US" sz="1575">
              <a:solidFill>
                <a:srgbClr val="696969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70571" y="0"/>
            <a:ext cx="18217429" cy="10327005"/>
          </a:xfrm>
          <a:custGeom>
            <a:avLst/>
            <a:gdLst/>
            <a:ahLst/>
            <a:cxnLst/>
            <a:rect l="l" t="t" r="r" b="b"/>
            <a:pathLst>
              <a:path w="18217429" h="10327005">
                <a:moveTo>
                  <a:pt x="0" y="0"/>
                </a:moveTo>
                <a:lnTo>
                  <a:pt x="18217429" y="0"/>
                </a:lnTo>
                <a:lnTo>
                  <a:pt x="18217429" y="10327005"/>
                </a:lnTo>
                <a:lnTo>
                  <a:pt x="0" y="10327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0392" y="384048"/>
            <a:ext cx="4389120" cy="438912"/>
            <a:chOff x="0" y="0"/>
            <a:chExt cx="5852160" cy="585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852160" cy="5852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WEBVERSE 2026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030200" y="384048"/>
            <a:ext cx="4389120" cy="438912"/>
            <a:chOff x="0" y="0"/>
            <a:chExt cx="585216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52160" cy="585216"/>
            </a:xfrm>
            <a:custGeom>
              <a:avLst/>
              <a:gdLst/>
              <a:ahLst/>
              <a:cxnLst/>
              <a:rect l="l" t="t" r="r" b="b"/>
              <a:pathLst>
                <a:path w="5852160" h="585216">
                  <a:moveTo>
                    <a:pt x="0" y="0"/>
                  </a:moveTo>
                  <a:lnTo>
                    <a:pt x="5852160" y="0"/>
                  </a:lnTo>
                  <a:lnTo>
                    <a:pt x="585216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585216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>
                  <a:solidFill>
                    <a:srgbClr val="6969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IDEA SUBMISSION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3960">
            <a:off x="840857" y="982790"/>
            <a:ext cx="16587988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802100" y="9710928"/>
            <a:ext cx="617220" cy="274320"/>
            <a:chOff x="0" y="0"/>
            <a:chExt cx="822960" cy="3657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2960" cy="365760"/>
            </a:xfrm>
            <a:custGeom>
              <a:avLst/>
              <a:gdLst/>
              <a:ahLst/>
              <a:cxnLst/>
              <a:rect l="l" t="t" r="r" b="b"/>
              <a:pathLst>
                <a:path w="822960" h="365760">
                  <a:moveTo>
                    <a:pt x="0" y="0"/>
                  </a:moveTo>
                  <a:lnTo>
                    <a:pt x="822960" y="0"/>
                  </a:lnTo>
                  <a:lnTo>
                    <a:pt x="8229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23" r="-702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822960" cy="365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696969"/>
                  </a:solidFill>
                  <a:latin typeface="Aptos"/>
                  <a:ea typeface="Aptos"/>
                  <a:cs typeface="Aptos"/>
                  <a:sym typeface="Aptos"/>
                </a:rPr>
                <a:t>06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0392" y="1186434"/>
            <a:ext cx="12070080" cy="617220"/>
            <a:chOff x="0" y="0"/>
            <a:chExt cx="16093440" cy="8229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093439" cy="822960"/>
            </a:xfrm>
            <a:custGeom>
              <a:avLst/>
              <a:gdLst/>
              <a:ahLst/>
              <a:cxnLst/>
              <a:rect l="l" t="t" r="r" b="b"/>
              <a:pathLst>
                <a:path w="16093439" h="822960">
                  <a:moveTo>
                    <a:pt x="0" y="0"/>
                  </a:moveTo>
                  <a:lnTo>
                    <a:pt x="16093439" y="0"/>
                  </a:lnTo>
                  <a:lnTo>
                    <a:pt x="16093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1040" b="-33104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0934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&amp; References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42772" y="2900172"/>
            <a:ext cx="10370820" cy="5844540"/>
            <a:chOff x="0" y="0"/>
            <a:chExt cx="13827760" cy="7792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827761" cy="7792720"/>
            </a:xfrm>
            <a:custGeom>
              <a:avLst/>
              <a:gdLst/>
              <a:ahLst/>
              <a:cxnLst/>
              <a:rect l="l" t="t" r="r" b="b"/>
              <a:pathLst>
                <a:path w="13827761" h="7792720">
                  <a:moveTo>
                    <a:pt x="0" y="0"/>
                  </a:moveTo>
                  <a:lnTo>
                    <a:pt x="13827761" y="0"/>
                  </a:lnTo>
                  <a:lnTo>
                    <a:pt x="13827761" y="7792720"/>
                  </a:lnTo>
                  <a:lnTo>
                    <a:pt x="0" y="7792720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124712" y="3127248"/>
            <a:ext cx="9806940" cy="342900"/>
            <a:chOff x="0" y="0"/>
            <a:chExt cx="13075920" cy="457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075918" cy="457200"/>
            </a:xfrm>
            <a:custGeom>
              <a:avLst/>
              <a:gdLst/>
              <a:ahLst/>
              <a:cxnLst/>
              <a:rect l="l" t="t" r="r" b="b"/>
              <a:pathLst>
                <a:path w="13075918" h="457200">
                  <a:moveTo>
                    <a:pt x="0" y="0"/>
                  </a:moveTo>
                  <a:lnTo>
                    <a:pt x="13075918" y="0"/>
                  </a:lnTo>
                  <a:lnTo>
                    <a:pt x="1307591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07272" b="-50727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30759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/ BACKGROUND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rot="5340">
            <a:off x="1117082" y="3575114"/>
            <a:ext cx="9822190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11513820" y="2900172"/>
            <a:ext cx="5913120" cy="5844540"/>
            <a:chOff x="0" y="0"/>
            <a:chExt cx="7884160" cy="77927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84160" cy="7792720"/>
            </a:xfrm>
            <a:custGeom>
              <a:avLst/>
              <a:gdLst/>
              <a:ahLst/>
              <a:cxnLst/>
              <a:rect l="l" t="t" r="r" b="b"/>
              <a:pathLst>
                <a:path w="7884160" h="7792720">
                  <a:moveTo>
                    <a:pt x="0" y="0"/>
                  </a:moveTo>
                  <a:lnTo>
                    <a:pt x="7884160" y="0"/>
                  </a:lnTo>
                  <a:lnTo>
                    <a:pt x="7884160" y="7792720"/>
                  </a:lnTo>
                  <a:lnTo>
                    <a:pt x="0" y="7792720"/>
                  </a:ln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E1E1E1"/>
              </a:solidFill>
              <a:prstDash val="solid"/>
              <a:miter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795760" y="3127248"/>
            <a:ext cx="5349240" cy="342900"/>
            <a:chOff x="0" y="0"/>
            <a:chExt cx="7132320" cy="457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32320" cy="457200"/>
            </a:xfrm>
            <a:custGeom>
              <a:avLst/>
              <a:gdLst/>
              <a:ahLst/>
              <a:cxnLst/>
              <a:rect l="l" t="t" r="r" b="b"/>
              <a:pathLst>
                <a:path w="7132320" h="457200">
                  <a:moveTo>
                    <a:pt x="0" y="0"/>
                  </a:moveTo>
                  <a:lnTo>
                    <a:pt x="7132320" y="0"/>
                  </a:lnTo>
                  <a:lnTo>
                    <a:pt x="7132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3966" b="-25396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7132320" cy="466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 b="1">
                  <a:solidFill>
                    <a:srgbClr val="14141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REFERENCES &amp; LINKS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rot="9780">
            <a:off x="11788130" y="3575114"/>
            <a:ext cx="5364499" cy="0"/>
          </a:xfrm>
          <a:prstGeom prst="line">
            <a:avLst/>
          </a:prstGeom>
          <a:ln w="9525" cap="rnd">
            <a:solidFill>
              <a:srgbClr val="E1E1E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7"/>
          <p:cNvSpPr txBox="1"/>
          <p:nvPr/>
        </p:nvSpPr>
        <p:spPr>
          <a:xfrm>
            <a:off x="11734427" y="3744669"/>
            <a:ext cx="5376283" cy="495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7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1. NIST Digital Identity Guidelines (SP 800-63B-4) — Authentication assurance and secure digital authentication practices.</a:t>
            </a:r>
          </a:p>
          <a:p>
            <a:pPr algn="l">
              <a:lnSpc>
                <a:spcPts val="2068"/>
              </a:lnSpc>
            </a:pPr>
            <a:endParaRPr lang="en-US" sz="1724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068"/>
              </a:lnSpc>
            </a:pPr>
            <a:r>
              <a:rPr lang="en-US" sz="17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https://pages.nist.gov/800-63-4/sp800-63b.html</a:t>
            </a:r>
          </a:p>
          <a:p>
            <a:pPr algn="l">
              <a:lnSpc>
                <a:spcPts val="2068"/>
              </a:lnSpc>
            </a:pPr>
            <a:endParaRPr lang="en-US" sz="1724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068"/>
              </a:lnSpc>
            </a:pPr>
            <a:r>
              <a:rPr lang="en-US" sz="17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2. OWASP Authentication Cheat Sheet — Risk-based authentication, contextual signals and re-authentication.</a:t>
            </a:r>
          </a:p>
          <a:p>
            <a:pPr algn="l">
              <a:lnSpc>
                <a:spcPts val="2068"/>
              </a:lnSpc>
            </a:pPr>
            <a:endParaRPr lang="en-US" sz="1724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068"/>
              </a:lnSpc>
            </a:pPr>
            <a:r>
              <a:rPr lang="en-US" sz="1724" u="sng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  <a:hlinkClick r:id="rId3" tooltip="https://cheatsheetseries.owasp.org/cheatsheets/Authentication_Cheat_Sheet.html"/>
              </a:rPr>
              <a:t>https://cheatsheetseries.owasp.org/cheatsheets/Authentication_Cheat_Sheet.html</a:t>
            </a:r>
          </a:p>
          <a:p>
            <a:pPr algn="l">
              <a:lnSpc>
                <a:spcPts val="2068"/>
              </a:lnSpc>
            </a:pPr>
            <a:endParaRPr lang="en-US" sz="1724" u="sng">
              <a:solidFill>
                <a:srgbClr val="000000"/>
              </a:solidFill>
              <a:latin typeface="Aptos"/>
              <a:ea typeface="Aptos"/>
              <a:cs typeface="Aptos"/>
              <a:sym typeface="Aptos"/>
              <a:hlinkClick r:id="rId3" tooltip="https://cheatsheetseries.owasp.org/cheatsheets/Authentication_Cheat_Sheet.html"/>
            </a:endParaRPr>
          </a:p>
          <a:p>
            <a:pPr algn="l">
              <a:lnSpc>
                <a:spcPts val="2068"/>
              </a:lnSpc>
            </a:pPr>
            <a:r>
              <a:rPr lang="en-US" sz="17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3. OWASP Multifactor Authentication Cheat Sheet — Adaptive authentication, MFA and risk signals such as IP, location and device.</a:t>
            </a:r>
          </a:p>
          <a:p>
            <a:pPr algn="l">
              <a:lnSpc>
                <a:spcPts val="2068"/>
              </a:lnSpc>
            </a:pPr>
            <a:endParaRPr lang="en-US" sz="1724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  <a:p>
            <a:pPr algn="l">
              <a:lnSpc>
                <a:spcPts val="2068"/>
              </a:lnSpc>
            </a:pPr>
            <a:r>
              <a:rPr lang="en-US" sz="1724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https://cheatsheetseries.owasp.org/cheatsheets/Multifactor_Authentication_Cheat_Sheet.html</a:t>
            </a:r>
          </a:p>
          <a:p>
            <a:pPr algn="l">
              <a:lnSpc>
                <a:spcPts val="2068"/>
              </a:lnSpc>
            </a:pPr>
            <a:endParaRPr lang="en-US" sz="1724">
              <a:solidFill>
                <a:srgbClr val="000000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90787" y="3754192"/>
            <a:ext cx="9667690" cy="457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329" lvl="1" indent="-232164" algn="l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Traditional authentication generally follows a fixed verification process, applying similar security requirements to every login attempt.</a:t>
            </a:r>
          </a:p>
          <a:p>
            <a:pPr marL="464329" lvl="1" indent="-232164" algn="l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Risk-based authentication evaluates the context of each login to determine whether the attempt appears normal or suspicious.</a:t>
            </a:r>
          </a:p>
          <a:p>
            <a:pPr marL="464329" lvl="1" indent="-232164" algn="l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Contextual signals such as IP address, location, device information, login time and previous login behavior can help identify abnormal activity.</a:t>
            </a:r>
          </a:p>
          <a:p>
            <a:pPr marL="464329" lvl="1" indent="-232164" algn="l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Machine Learning can analyze historical authentication data, learn patterns of normal and suspicious behavior, and assist in estimating the risk of a new login.</a:t>
            </a:r>
          </a:p>
          <a:p>
            <a:pPr marL="464329" lvl="1" indent="-232164" algn="l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Adaptive authentication allows the security level to change dynamically based on the detected risk instead of using the same method for every user.</a:t>
            </a:r>
          </a:p>
          <a:p>
            <a:pPr marL="464329" lvl="1" indent="-232164" algn="l">
              <a:lnSpc>
                <a:spcPts val="2580"/>
              </a:lnSpc>
              <a:buFont typeface="Arial"/>
              <a:buChar char="•"/>
            </a:pPr>
            <a:r>
              <a:rPr lang="en-US" sz="215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This research forms the basis of our approach, where login attempts are classified into Low, Medium and High Risk, triggering an appropriate level of verification.</a:t>
            </a:r>
          </a:p>
        </p:txBody>
      </p:sp>
      <p:sp>
        <p:nvSpPr>
          <p:cNvPr id="29" name="Freeform 29"/>
          <p:cNvSpPr/>
          <p:nvPr/>
        </p:nvSpPr>
        <p:spPr>
          <a:xfrm>
            <a:off x="70571" y="0"/>
            <a:ext cx="18217429" cy="10327005"/>
          </a:xfrm>
          <a:custGeom>
            <a:avLst/>
            <a:gdLst/>
            <a:ahLst/>
            <a:cxnLst/>
            <a:rect l="l" t="t" r="r" b="b"/>
            <a:pathLst>
              <a:path w="18217429" h="10327005">
                <a:moveTo>
                  <a:pt x="0" y="0"/>
                </a:moveTo>
                <a:lnTo>
                  <a:pt x="18217429" y="0"/>
                </a:lnTo>
                <a:lnTo>
                  <a:pt x="18217429" y="10327005"/>
                </a:lnTo>
                <a:lnTo>
                  <a:pt x="0" y="10327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1013</Words>
  <Application>Microsoft Office PowerPoint</Application>
  <PresentationFormat>Custom</PresentationFormat>
  <Paragraphs>133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 Bold</vt:lpstr>
      <vt:lpstr>Calibri (MS)</vt:lpstr>
      <vt:lpstr>IBM Plex Mono</vt:lpstr>
      <vt:lpstr>Times New Roman Bold</vt:lpstr>
      <vt:lpstr>Roboto Condensed</vt:lpstr>
      <vt:lpstr>Aptos</vt:lpstr>
      <vt:lpstr>Arial</vt:lpstr>
      <vt:lpstr>Calibri</vt:lpstr>
      <vt:lpstr>League Spartan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webverse hackthon ppt.pptx</dc:title>
  <cp:lastModifiedBy>Parth Popli</cp:lastModifiedBy>
  <cp:revision>2</cp:revision>
  <dcterms:created xsi:type="dcterms:W3CDTF">2006-08-16T00:00:00Z</dcterms:created>
  <dcterms:modified xsi:type="dcterms:W3CDTF">2026-09-06T12:46:18Z</dcterms:modified>
  <dc:identifier>DAHUO_SXdrI</dc:identifier>
</cp:coreProperties>
</file>